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3.png" ContentType="image/png"/>
  <Override PartName="/ppt/media/image52.png" ContentType="image/png"/>
  <Override PartName="/ppt/media/image95.jpeg" ContentType="image/jpeg"/>
  <Override PartName="/ppt/media/image51.png" ContentType="image/png"/>
  <Override PartName="/ppt/media/image4.jpeg" ContentType="image/jpeg"/>
  <Override PartName="/ppt/media/image50.png" ContentType="image/png"/>
  <Override PartName="/ppt/media/image49.png" ContentType="image/png"/>
  <Override PartName="/ppt/media/image10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57.jpeg" ContentType="image/jpeg"/>
  <Override PartName="/ppt/media/image63.png" ContentType="image/png"/>
  <Override PartName="/ppt/media/image43.png" ContentType="image/png"/>
  <Override PartName="/ppt/media/image42.png" ContentType="image/png"/>
  <Override PartName="/ppt/media/image94.jpeg" ContentType="image/jpeg"/>
  <Override PartName="/ppt/media/image41.png" ContentType="image/png"/>
  <Override PartName="/ppt/media/image36.png" ContentType="image/png"/>
  <Override PartName="/ppt/media/image31.png" ContentType="image/png"/>
  <Override PartName="/ppt/media/image30.png" ContentType="image/png"/>
  <Override PartName="/ppt/media/image34.png" ContentType="image/png"/>
  <Override PartName="/ppt/media/image12.jpeg" ContentType="image/jpeg"/>
  <Override PartName="/ppt/media/image13.png" ContentType="image/png"/>
  <Override PartName="/ppt/media/image48.png" ContentType="image/png"/>
  <Override PartName="/ppt/media/image11.png" ContentType="image/png"/>
  <Override PartName="/ppt/media/image10.jpeg" ContentType="image/jpeg"/>
  <Override PartName="/ppt/media/image39.jpeg" ContentType="image/jpeg"/>
  <Override PartName="/ppt/media/image5.png" ContentType="image/png"/>
  <Override PartName="/ppt/media/image17.png" ContentType="image/png"/>
  <Override PartName="/ppt/media/image82.png" ContentType="image/png"/>
  <Override PartName="/ppt/media/image38.png" ContentType="image/png"/>
  <Override PartName="/ppt/media/image8.jpeg" ContentType="image/jpeg"/>
  <Override PartName="/ppt/media/image26.png" ContentType="image/png"/>
  <Override PartName="/ppt/media/image91.png" ContentType="image/png"/>
  <Override PartName="/ppt/media/image35.png" ContentType="image/png"/>
  <Override PartName="/ppt/media/image28.png" ContentType="image/png"/>
  <Override PartName="/ppt/media/image93.png" ContentType="image/png"/>
  <Override PartName="/ppt/media/image9.png" ContentType="image/png"/>
  <Override PartName="/ppt/media/image86.png" ContentType="image/png"/>
  <Override PartName="/ppt/media/image37.png" ContentType="image/png"/>
  <Override PartName="/ppt/media/image7.png" ContentType="image/png"/>
  <Override PartName="/ppt/media/image19.png" ContentType="image/png"/>
  <Override PartName="/ppt/media/image84.png" ContentType="image/png"/>
  <Override PartName="/ppt/media/image47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9.png" ContentType="image/png"/>
  <Override PartName="/ppt/media/image2.png" ContentType="image/png"/>
  <Override PartName="/ppt/media/image32.png" ContentType="image/png"/>
  <Override PartName="/ppt/media/image68.png" ContentType="image/png"/>
  <Override PartName="/ppt/media/image70.png" ContentType="image/png"/>
  <Override PartName="/ppt/media/image73.png" ContentType="image/png"/>
  <Override PartName="/ppt/media/image74.png" ContentType="image/png"/>
  <Override PartName="/ppt/media/image75.png" ContentType="image/png"/>
  <Override PartName="/ppt/media/image101.jpeg" ContentType="image/jpeg"/>
  <Override PartName="/ppt/media/image76.png" ContentType="image/png"/>
  <Override PartName="/ppt/media/image78.png" ContentType="image/png"/>
  <Override PartName="/ppt/media/image104.png" ContentType="image/png"/>
  <Override PartName="/ppt/media/image60.png" ContentType="image/png"/>
  <Override PartName="/ppt/media/image77.png" ContentType="image/png"/>
  <Override PartName="/ppt/media/image40.png" ContentType="image/png"/>
  <Override PartName="/ppt/media/image103.jpeg" ContentType="image/jpeg"/>
  <Override PartName="/ppt/media/image102.png" ContentType="image/png"/>
  <Override PartName="/ppt/media/image88.png" ContentType="image/png"/>
  <Override PartName="/ppt/media/image64.png" ContentType="image/png"/>
  <Override PartName="/ppt/media/image99.png" ContentType="image/png"/>
  <Override PartName="/ppt/media/image16.jpeg" ContentType="image/jpeg"/>
  <Override PartName="/ppt/media/image106.png" ContentType="image/png"/>
  <Override PartName="/ppt/media/image72.png" ContentType="image/png"/>
  <Override PartName="/ppt/media/image97.jpeg" ContentType="image/jpeg"/>
  <Override PartName="/ppt/media/image87.png" ContentType="image/png"/>
  <Override PartName="/ppt/media/image98.png" ContentType="image/png"/>
  <Override PartName="/ppt/media/image105.png" ContentType="image/png"/>
  <Override PartName="/ppt/media/image61.png" ContentType="image/png"/>
  <Override PartName="/ppt/media/image89.png" ContentType="image/png"/>
  <Override PartName="/ppt/media/image85.png" ContentType="image/png"/>
  <Override PartName="/ppt/media/image83.png" ContentType="image/png"/>
  <Override PartName="/ppt/media/image79.png" ContentType="image/png"/>
  <Override PartName="/ppt/media/image81.png" ContentType="image/png"/>
  <Override PartName="/ppt/media/image62.png" ContentType="image/png"/>
  <Override PartName="/ppt/media/image96.jpeg" ContentType="image/jpeg"/>
  <Override PartName="/ppt/media/image29.png" ContentType="image/png"/>
  <Override PartName="/ppt/media/image6.jpeg" ContentType="image/jpeg"/>
  <Override PartName="/ppt/media/image71.png" ContentType="image/png"/>
  <Override PartName="/ppt/media/image27.png" ContentType="image/png"/>
  <Override PartName="/ppt/media/image33.jpeg" ContentType="image/jpeg"/>
  <Override PartName="/ppt/media/image24.png" ContentType="image/png"/>
  <Override PartName="/ppt/media/image23.png" ContentType="image/png"/>
  <Override PartName="/ppt/media/image22.png" ContentType="image/png"/>
  <Override PartName="/ppt/media/image59.png" ContentType="image/png"/>
  <Override PartName="/ppt/media/image20.png" ContentType="image/png"/>
  <Override PartName="/ppt/media/image58.png" ContentType="image/png"/>
  <Override PartName="/ppt/media/image1.jpeg" ContentType="image/jpeg"/>
  <Override PartName="/ppt/media/image21.png" ContentType="image/png"/>
  <Override PartName="/ppt/media/image18.jpeg" ContentType="image/jpeg"/>
  <Override PartName="/ppt/media/image14.jpeg" ContentType="image/jpeg"/>
  <Override PartName="/ppt/media/image54.png" ContentType="image/png"/>
  <Override PartName="/ppt/media/image15.png" ContentType="image/png"/>
  <Override PartName="/ppt/media/image92.jpeg" ContentType="image/jpeg"/>
  <Override PartName="/ppt/media/image80.png" ContentType="image/png"/>
  <Override PartName="/ppt/media/image3.png" ContentType="image/png"/>
  <Override PartName="/ppt/media/image90.png" ContentType="image/png"/>
  <Override PartName="/ppt/media/image2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5125700" cy="10693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113521-8569-4708-AC20-797405FB47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56000" y="2502000"/>
            <a:ext cx="136126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CC9599-0128-4D43-97DF-6D2D204FD9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136126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87ACAA-FC66-4BF6-AA92-80FFD4C811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664272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731360" y="2502000"/>
            <a:ext cx="664272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D214BF-3CA3-4880-AC63-C21B661FA2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A48581-C388-4CFB-9C85-A984E18E85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56000" y="426600"/>
            <a:ext cx="13612680" cy="82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45C841-7DEA-4A9C-A9E0-75DC999E60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731360" y="2502000"/>
            <a:ext cx="664272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56000" y="574164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9FDB91-D737-45C5-B481-821ABA9590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664272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731360" y="250200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731360" y="574164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BD6064-BCA1-4A1B-824F-B114CE6944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731360" y="250200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56000" y="5741640"/>
            <a:ext cx="136126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46D63C-F442-417B-8598-408E8223AF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136126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56000" y="5741640"/>
            <a:ext cx="1361268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A5C5D-39B3-4513-AF6B-14DF365BF4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731360" y="250200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56000" y="574164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731360" y="5741640"/>
            <a:ext cx="664272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CD20F-72DD-4355-8E40-3521DFE761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1800" spc="-1" strike="noStrike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56000" y="2502000"/>
            <a:ext cx="43830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358600" y="2502000"/>
            <a:ext cx="43830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961200" y="2502000"/>
            <a:ext cx="43830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56000" y="5741640"/>
            <a:ext cx="43830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358600" y="5741640"/>
            <a:ext cx="43830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961200" y="5741640"/>
            <a:ext cx="4383000" cy="295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6FD775-2872-4953-8A60-73C5B8EA66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5142600" y="9945000"/>
            <a:ext cx="483984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fr-FR" sz="1400" spc="-1" strike="noStrike">
                <a:latin typeface="Times New Roman"/>
              </a:rPr>
              <a:t>&lt;footer&gt;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2"/>
          </p:nvPr>
        </p:nvSpPr>
        <p:spPr>
          <a:xfrm>
            <a:off x="756360" y="9945000"/>
            <a:ext cx="3478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&lt;date/time&gt;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10890360" y="9945000"/>
            <a:ext cx="3478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B44843-A6DD-480D-9D14-907BB844631B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fr-F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756000" y="426600"/>
            <a:ext cx="13612680" cy="178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1800" spc="-1" strike="noStrike">
                <a:latin typeface="Calibri"/>
              </a:rPr>
              <a:t>Click to edit </a:t>
            </a:r>
            <a:r>
              <a:rPr b="0" lang="fr-FR" sz="1800" spc="-1" strike="noStrike">
                <a:latin typeface="Calibri"/>
              </a:rPr>
              <a:t>the title text </a:t>
            </a:r>
            <a:r>
              <a:rPr b="0" lang="fr-FR" sz="1800" spc="-1" strike="noStrike">
                <a:latin typeface="Calibri"/>
              </a:rPr>
              <a:t>format</a:t>
            </a:r>
            <a:endParaRPr b="0" lang="fr-FR" sz="1800" spc="-1" strike="noStrike"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756000" y="2502000"/>
            <a:ext cx="13612680" cy="620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Calibri"/>
              </a:rPr>
              <a:t>Click to edit the outline text format</a:t>
            </a:r>
            <a:endParaRPr b="0" lang="fr-FR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Calibri"/>
              </a:rPr>
              <a:t>Second Outline Level</a:t>
            </a:r>
            <a:endParaRPr b="0" lang="fr-FR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Calibri"/>
              </a:rPr>
              <a:t>Third Outline Level</a:t>
            </a:r>
            <a:endParaRPr b="0" lang="fr-FR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Calibri"/>
              </a:rPr>
              <a:t>Fourth Outline Level</a:t>
            </a:r>
            <a:endParaRPr b="0" lang="fr-FR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Calibri"/>
              </a:rPr>
              <a:t>Fifth Outline Level</a:t>
            </a:r>
            <a:endParaRPr b="0" lang="fr-FR" sz="20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Calibri"/>
              </a:rPr>
              <a:t>Sixth Outline Level</a:t>
            </a:r>
            <a:endParaRPr b="0" lang="fr-FR" sz="20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Calibri"/>
              </a:rPr>
              <a:t>Seventh Outline Level</a:t>
            </a:r>
            <a:endParaRPr b="0" lang="fr-FR" sz="2000" spc="-1" strike="noStrike"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www.mokosmart.com/fr/h3-card-beacon/" TargetMode="External"/><Relationship Id="rId3" Type="http://schemas.openxmlformats.org/officeDocument/2006/relationships/image" Target="../media/image4.jpeg"/><Relationship Id="rId4" Type="http://schemas.openxmlformats.org/officeDocument/2006/relationships/hyperlink" Target="https://www.mokosmart.com/fr/h3-card-beacon/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s://www.mokosmart.com/fr/rfid-beacon-h5/" TargetMode="External"/><Relationship Id="rId7" Type="http://schemas.openxmlformats.org/officeDocument/2006/relationships/image" Target="../media/image6.jpeg"/><Relationship Id="rId8" Type="http://schemas.openxmlformats.org/officeDocument/2006/relationships/hyperlink" Target="https://www.mokosmart.com/fr/rfid-beacon-h5/" TargetMode="External"/><Relationship Id="rId9" Type="http://schemas.openxmlformats.org/officeDocument/2006/relationships/image" Target="../media/image7.png"/><Relationship Id="rId10" Type="http://schemas.openxmlformats.org/officeDocument/2006/relationships/hyperlink" Target="https://www.mokosmart.com/fr/mokosmart-h7-helmet-beacon/" TargetMode="External"/><Relationship Id="rId11" Type="http://schemas.openxmlformats.org/officeDocument/2006/relationships/image" Target="../media/image8.jpeg"/><Relationship Id="rId12" Type="http://schemas.openxmlformats.org/officeDocument/2006/relationships/hyperlink" Target="https://www.mokosmart.com/fr/mokosmart-h7-helmet-beacon/" TargetMode="External"/><Relationship Id="rId13" Type="http://schemas.openxmlformats.org/officeDocument/2006/relationships/image" Target="../media/image9.png"/><Relationship Id="rId14" Type="http://schemas.openxmlformats.org/officeDocument/2006/relationships/hyperlink" Target="https://www.mokosmart.com/fr/asset-tracking-beacon-m2/" TargetMode="External"/><Relationship Id="rId15" Type="http://schemas.openxmlformats.org/officeDocument/2006/relationships/image" Target="../media/image10.jpeg"/><Relationship Id="rId16" Type="http://schemas.openxmlformats.org/officeDocument/2006/relationships/hyperlink" Target="https://www.mokosmart.com/fr/asset-tracking-beacon-m2/" TargetMode="External"/><Relationship Id="rId17" Type="http://schemas.openxmlformats.org/officeDocument/2006/relationships/image" Target="../media/image11.png"/><Relationship Id="rId18" Type="http://schemas.openxmlformats.org/officeDocument/2006/relationships/hyperlink" Target="https://www.mokosmart.com/fr/iot-beacon-w3pro/" TargetMode="External"/><Relationship Id="rId19" Type="http://schemas.openxmlformats.org/officeDocument/2006/relationships/image" Target="../media/image12.jpeg"/><Relationship Id="rId20" Type="http://schemas.openxmlformats.org/officeDocument/2006/relationships/hyperlink" Target="https://www.mokosmart.com/fr/iot-beacon-w3pro/" TargetMode="External"/><Relationship Id="rId21" Type="http://schemas.openxmlformats.org/officeDocument/2006/relationships/image" Target="../media/image13.png"/><Relationship Id="rId22" Type="http://schemas.openxmlformats.org/officeDocument/2006/relationships/hyperlink" Target="https://www.mokosmart.com/fr/mokosmart-h4-p5202dh2-beacon-ip66-waterproof-with-external-sensor/" TargetMode="External"/><Relationship Id="rId23" Type="http://schemas.openxmlformats.org/officeDocument/2006/relationships/image" Target="../media/image14.jpeg"/><Relationship Id="rId24" Type="http://schemas.openxmlformats.org/officeDocument/2006/relationships/hyperlink" Target="https://www.mokosmart.com/fr/mokosmart-h4-p5202dh2-beacon-ip66-waterproof-with-external-sensor/" TargetMode="External"/><Relationship Id="rId25" Type="http://schemas.openxmlformats.org/officeDocument/2006/relationships/image" Target="../media/image15.png"/><Relationship Id="rId26" Type="http://schemas.openxmlformats.org/officeDocument/2006/relationships/hyperlink" Target="https://www.mokosmart.com/fr/lorawan-tracker-lw001-bg-pro/" TargetMode="External"/><Relationship Id="rId27" Type="http://schemas.openxmlformats.org/officeDocument/2006/relationships/image" Target="../media/image16.jpeg"/><Relationship Id="rId28" Type="http://schemas.openxmlformats.org/officeDocument/2006/relationships/hyperlink" Target="https://www.mokosmart.com/fr/lorawan-tracker-lw001-bg-pro/" TargetMode="External"/><Relationship Id="rId29" Type="http://schemas.openxmlformats.org/officeDocument/2006/relationships/image" Target="../media/image17.png"/><Relationship Id="rId30" Type="http://schemas.openxmlformats.org/officeDocument/2006/relationships/hyperlink" Target="https://www.mokosmart.com/fr/lw004-lorawan-contact-tracing-wearables-button/" TargetMode="External"/><Relationship Id="rId31" Type="http://schemas.openxmlformats.org/officeDocument/2006/relationships/image" Target="../media/image18.jpeg"/><Relationship Id="rId32" Type="http://schemas.openxmlformats.org/officeDocument/2006/relationships/hyperlink" Target="https://www.mokosmart.com/fr/lw004-lorawan-contact-tracing-wearables-button/" TargetMode="External"/><Relationship Id="rId33" Type="http://schemas.openxmlformats.org/officeDocument/2006/relationships/image" Target="../media/image19.png"/><Relationship Id="rId34" Type="http://schemas.openxmlformats.org/officeDocument/2006/relationships/hyperlink" Target="https://www.mokosmart.com/fr/lw004-lorawan-contact-tracing-wearables-button/" TargetMode="External"/><Relationship Id="rId35" Type="http://schemas.openxmlformats.org/officeDocument/2006/relationships/image" Target="../media/image20.png"/><Relationship Id="rId3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hyperlink" Target="http://store.mokosmart.com/?utm_source=mokosmart" TargetMode="External"/><Relationship Id="rId11" Type="http://schemas.openxmlformats.org/officeDocument/2006/relationships/image" Target="../media/image30.png"/><Relationship Id="rId1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jpe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hyperlink" Target="http://store.mokosmart.com/?utm_source=mokosmart" TargetMode="External"/><Relationship Id="rId9" Type="http://schemas.openxmlformats.org/officeDocument/2006/relationships/image" Target="../media/image38.png"/><Relationship Id="rId10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hyperlink" Target="http://store.mokosmart.com/?utm_source=mokosmart" TargetMode="External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hyperlink" Target="https://www.mokosmart.com/fr/partners/" TargetMode="External"/><Relationship Id="rId3" Type="http://schemas.openxmlformats.org/officeDocument/2006/relationships/hyperlink" Target="https://www.mokosmart.com/fr/partners/" TargetMode="External"/><Relationship Id="rId4" Type="http://schemas.openxmlformats.org/officeDocument/2006/relationships/hyperlink" Target="https://www.mokosmart.com/fr/partners/" TargetMode="External"/><Relationship Id="rId5" Type="http://schemas.openxmlformats.org/officeDocument/2006/relationships/hyperlink" Target="https://www.mokosmart.com/fr/partners/" TargetMode="External"/><Relationship Id="rId6" Type="http://schemas.openxmlformats.org/officeDocument/2006/relationships/hyperlink" Target="https://www.mokosmart.com/fr/partners/" TargetMode="External"/><Relationship Id="rId7" Type="http://schemas.openxmlformats.org/officeDocument/2006/relationships/hyperlink" Target="https://www.mokosmart.com/fr/partners/" TargetMode="External"/><Relationship Id="rId8" Type="http://schemas.openxmlformats.org/officeDocument/2006/relationships/hyperlink" Target="https://www.mokosmart.com/fr/partners/" TargetMode="External"/><Relationship Id="rId9" Type="http://schemas.openxmlformats.org/officeDocument/2006/relationships/hyperlink" Target="https://www.mokosmart.com/fr/partners/" TargetMode="External"/><Relationship Id="rId10" Type="http://schemas.openxmlformats.org/officeDocument/2006/relationships/hyperlink" Target="https://www.mokosmart.com/fr/partners/" TargetMode="External"/><Relationship Id="rId11" Type="http://schemas.openxmlformats.org/officeDocument/2006/relationships/hyperlink" Target="https://www.mokosmart.com/fr/contact/" TargetMode="External"/><Relationship Id="rId12" Type="http://schemas.openxmlformats.org/officeDocument/2006/relationships/hyperlink" Target="https://www.mokosmart.com/fr/contact/" TargetMode="External"/><Relationship Id="rId13" Type="http://schemas.openxmlformats.org/officeDocument/2006/relationships/hyperlink" Target="https://www.mokosmart.com/fr/contact/" TargetMode="External"/><Relationship Id="rId14" Type="http://schemas.openxmlformats.org/officeDocument/2006/relationships/hyperlink" Target="https://www.mokosmart.com/fr/partners/" TargetMode="External"/><Relationship Id="rId15" Type="http://schemas.openxmlformats.org/officeDocument/2006/relationships/hyperlink" Target="https://www.mokosmart.com/fr/partners/" TargetMode="External"/><Relationship Id="rId16" Type="http://schemas.openxmlformats.org/officeDocument/2006/relationships/hyperlink" Target="https://www.mokosmart.com/fr/partners/" TargetMode="External"/><Relationship Id="rId17" Type="http://schemas.openxmlformats.org/officeDocument/2006/relationships/hyperlink" Target="https://www.mokosmart.com/fr/contact/" TargetMode="External"/><Relationship Id="rId18" Type="http://schemas.openxmlformats.org/officeDocument/2006/relationships/hyperlink" Target="https://www.mokosmart.com/fr/contact/" TargetMode="External"/><Relationship Id="rId19" Type="http://schemas.openxmlformats.org/officeDocument/2006/relationships/hyperlink" Target="https://www.mokosmart.com/fr/contact/" TargetMode="External"/><Relationship Id="rId20" Type="http://schemas.openxmlformats.org/officeDocument/2006/relationships/hyperlink" Target="http://store.mokosmart.com/?utm_source=mokosmart" TargetMode="External"/><Relationship Id="rId21" Type="http://schemas.openxmlformats.org/officeDocument/2006/relationships/hyperlink" Target="https://www.mokosmart.com/fr/partners/" TargetMode="External"/><Relationship Id="rId22" Type="http://schemas.openxmlformats.org/officeDocument/2006/relationships/hyperlink" Target="https://www.mokosmart.com/fr/partners/" TargetMode="External"/><Relationship Id="rId23" Type="http://schemas.openxmlformats.org/officeDocument/2006/relationships/hyperlink" Target="https://www.mokosmart.com/fr/partners/" TargetMode="External"/><Relationship Id="rId24" Type="http://schemas.openxmlformats.org/officeDocument/2006/relationships/hyperlink" Target="https://www.mokosmart.com/fr/contact/" TargetMode="External"/><Relationship Id="rId25" Type="http://schemas.openxmlformats.org/officeDocument/2006/relationships/hyperlink" Target="https://www.mokosmart.com/fr/contact/" TargetMode="External"/><Relationship Id="rId26" Type="http://schemas.openxmlformats.org/officeDocument/2006/relationships/hyperlink" Target="https://www.mokosmart.com/fr/contact/" TargetMode="External"/><Relationship Id="rId27" Type="http://schemas.openxmlformats.org/officeDocument/2006/relationships/image" Target="../media/image58.png"/><Relationship Id="rId28" Type="http://schemas.openxmlformats.org/officeDocument/2006/relationships/hyperlink" Target="http://store.mokosmart.com/?utm_source=mokosmart" TargetMode="External"/><Relationship Id="rId29" Type="http://schemas.openxmlformats.org/officeDocument/2006/relationships/image" Target="../media/image59.png"/><Relationship Id="rId30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hyperlink" Target="http://store.mokosmart.com/?utm_source=mokosmart" TargetMode="External"/><Relationship Id="rId4" Type="http://schemas.openxmlformats.org/officeDocument/2006/relationships/image" Target="../media/image62.png"/><Relationship Id="rId5" Type="http://schemas.openxmlformats.org/officeDocument/2006/relationships/hyperlink" Target="https://www.mokosmart.com/fr/partners/" TargetMode="External"/><Relationship Id="rId6" Type="http://schemas.openxmlformats.org/officeDocument/2006/relationships/hyperlink" Target="https://www.mokosmart.com/fr/contact/" TargetMode="External"/><Relationship Id="rId7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2.png"/><Relationship Id="rId3" Type="http://schemas.openxmlformats.org/officeDocument/2006/relationships/hyperlink" Target="http://store.mokosmart.com/?utm_source=mokosmart" TargetMode="External"/><Relationship Id="rId4" Type="http://schemas.openxmlformats.org/officeDocument/2006/relationships/image" Target="../media/image73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4.png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hyperlink" Target="http://store.mokosmart.com/?utm_source=mokosmart" TargetMode="External"/><Relationship Id="rId11" Type="http://schemas.openxmlformats.org/officeDocument/2006/relationships/image" Target="../media/image83.png"/><Relationship Id="rId1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image" Target="../media/image85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image" Target="../media/image87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image" Target="../media/image89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image" Target="../media/image91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2.jpeg"/><Relationship Id="rId2" Type="http://schemas.openxmlformats.org/officeDocument/2006/relationships/image" Target="../media/image93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www.mokosmart.com/fr/partners/" TargetMode="External"/><Relationship Id="rId2" Type="http://schemas.openxmlformats.org/officeDocument/2006/relationships/hyperlink" Target="https://www.mokosmart.com/fr/partners/" TargetMode="External"/><Relationship Id="rId3" Type="http://schemas.openxmlformats.org/officeDocument/2006/relationships/hyperlink" Target="https://www.mokosmart.com/fr/partners/" TargetMode="External"/><Relationship Id="rId4" Type="http://schemas.openxmlformats.org/officeDocument/2006/relationships/hyperlink" Target="https://www.mokosmart.com/fr/contact/" TargetMode="External"/><Relationship Id="rId5" Type="http://schemas.openxmlformats.org/officeDocument/2006/relationships/hyperlink" Target="https://www.mokosmart.com/fr/contact/" TargetMode="External"/><Relationship Id="rId6" Type="http://schemas.openxmlformats.org/officeDocument/2006/relationships/hyperlink" Target="https://www.mokosmart.com/fr/contact/" TargetMode="External"/><Relationship Id="rId7" Type="http://schemas.openxmlformats.org/officeDocument/2006/relationships/hyperlink" Target="https://www.mokosmart.com/fr/partners/" TargetMode="External"/><Relationship Id="rId8" Type="http://schemas.openxmlformats.org/officeDocument/2006/relationships/hyperlink" Target="https://www.mokosmart.com/fr/contact/" TargetMode="External"/><Relationship Id="rId9" Type="http://schemas.openxmlformats.org/officeDocument/2006/relationships/hyperlink" Target="https://www.mokosmart.com/fr/contact/" TargetMode="External"/><Relationship Id="rId10" Type="http://schemas.openxmlformats.org/officeDocument/2006/relationships/hyperlink" Target="https://www.mokosmart.com/fr/contact/" TargetMode="External"/><Relationship Id="rId11" Type="http://schemas.openxmlformats.org/officeDocument/2006/relationships/hyperlink" Target="https://www.mokosmart.com/fr/partners/" TargetMode="External"/><Relationship Id="rId12" Type="http://schemas.openxmlformats.org/officeDocument/2006/relationships/hyperlink" Target="https://www.mokosmart.com/fr/partners/" TargetMode="External"/><Relationship Id="rId13" Type="http://schemas.openxmlformats.org/officeDocument/2006/relationships/hyperlink" Target="https://www.mokosmart.com/fr/partners/" TargetMode="External"/><Relationship Id="rId14" Type="http://schemas.openxmlformats.org/officeDocument/2006/relationships/hyperlink" Target="https://www.mokosmart.com/fr/contact/" TargetMode="External"/><Relationship Id="rId15" Type="http://schemas.openxmlformats.org/officeDocument/2006/relationships/image" Target="../media/image94.jpeg"/><Relationship Id="rId16" Type="http://schemas.openxmlformats.org/officeDocument/2006/relationships/image" Target="../media/image95.jpeg"/><Relationship Id="rId17" Type="http://schemas.openxmlformats.org/officeDocument/2006/relationships/image" Target="../media/image96.jpeg"/><Relationship Id="rId18" Type="http://schemas.openxmlformats.org/officeDocument/2006/relationships/image" Target="../media/image97.jpeg"/><Relationship Id="rId19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ww.mokosmart.com/fr/partners/" TargetMode="External"/><Relationship Id="rId2" Type="http://schemas.openxmlformats.org/officeDocument/2006/relationships/hyperlink" Target="https://www.mokosmart.com/fr/partners/" TargetMode="External"/><Relationship Id="rId3" Type="http://schemas.openxmlformats.org/officeDocument/2006/relationships/hyperlink" Target="https://www.mokosmart.com/fr/partners/" TargetMode="External"/><Relationship Id="rId4" Type="http://schemas.openxmlformats.org/officeDocument/2006/relationships/hyperlink" Target="https://www.mokosmart.com/fr/partners/" TargetMode="External"/><Relationship Id="rId5" Type="http://schemas.openxmlformats.org/officeDocument/2006/relationships/hyperlink" Target="https://www.mokosmart.com/fr/partners/" TargetMode="External"/><Relationship Id="rId6" Type="http://schemas.openxmlformats.org/officeDocument/2006/relationships/hyperlink" Target="https://www.mokosmart.com/fr/partners/" TargetMode="External"/><Relationship Id="rId7" Type="http://schemas.openxmlformats.org/officeDocument/2006/relationships/hyperlink" Target="https://www.mokosmart.com/fr/partners/" TargetMode="External"/><Relationship Id="rId8" Type="http://schemas.openxmlformats.org/officeDocument/2006/relationships/hyperlink" Target="https://www.mokosmart.com/fr/contact/" TargetMode="External"/><Relationship Id="rId9" Type="http://schemas.openxmlformats.org/officeDocument/2006/relationships/hyperlink" Target="https://www.mokosmart.com/fr/contact/" TargetMode="External"/><Relationship Id="rId10" Type="http://schemas.openxmlformats.org/officeDocument/2006/relationships/hyperlink" Target="https://www.mokosmart.com/fr/contact/" TargetMode="External"/><Relationship Id="rId11" Type="http://schemas.openxmlformats.org/officeDocument/2006/relationships/hyperlink" Target="https://www.mokosmart.com/fr/contact/" TargetMode="External"/><Relationship Id="rId12" Type="http://schemas.openxmlformats.org/officeDocument/2006/relationships/hyperlink" Target="https://www.mokosmart.com/fr/contact/" TargetMode="External"/><Relationship Id="rId13" Type="http://schemas.openxmlformats.org/officeDocument/2006/relationships/hyperlink" Target="https://www.mokosmart.com/fr/partners/" TargetMode="External"/><Relationship Id="rId14" Type="http://schemas.openxmlformats.org/officeDocument/2006/relationships/hyperlink" Target="https://www.mokosmart.com/fr/partners/" TargetMode="External"/><Relationship Id="rId15" Type="http://schemas.openxmlformats.org/officeDocument/2006/relationships/hyperlink" Target="https://www.mokosmart.com/fr/partners/" TargetMode="External"/><Relationship Id="rId16" Type="http://schemas.openxmlformats.org/officeDocument/2006/relationships/hyperlink" Target="https://www.mokosmart.com/fr/contact/" TargetMode="External"/><Relationship Id="rId17" Type="http://schemas.openxmlformats.org/officeDocument/2006/relationships/hyperlink" Target="https://www.mokosmart.com/fr/contact/" TargetMode="External"/><Relationship Id="rId18" Type="http://schemas.openxmlformats.org/officeDocument/2006/relationships/hyperlink" Target="https://www.mokosmart.com/fr/contact/" TargetMode="External"/><Relationship Id="rId19" Type="http://schemas.openxmlformats.org/officeDocument/2006/relationships/hyperlink" Target="http://store.mokosmart.com/?utm_source=mokosmart" TargetMode="External"/><Relationship Id="rId20" Type="http://schemas.openxmlformats.org/officeDocument/2006/relationships/hyperlink" Target="https://www.mokosmart.com/fr/partners/" TargetMode="External"/><Relationship Id="rId21" Type="http://schemas.openxmlformats.org/officeDocument/2006/relationships/hyperlink" Target="https://www.mokosmart.com/fr/partners/" TargetMode="External"/><Relationship Id="rId22" Type="http://schemas.openxmlformats.org/officeDocument/2006/relationships/hyperlink" Target="https://www.mokosmart.com/fr/partners/" TargetMode="External"/><Relationship Id="rId23" Type="http://schemas.openxmlformats.org/officeDocument/2006/relationships/hyperlink" Target="https://www.mokosmart.com/fr/contact/" TargetMode="External"/><Relationship Id="rId24" Type="http://schemas.openxmlformats.org/officeDocument/2006/relationships/hyperlink" Target="http://store.mokosmart.com/?utm_source=mokosmart" TargetMode="External"/><Relationship Id="rId25" Type="http://schemas.openxmlformats.org/officeDocument/2006/relationships/hyperlink" Target="https://www.mokosmart.com/fr/partners/" TargetMode="External"/><Relationship Id="rId26" Type="http://schemas.openxmlformats.org/officeDocument/2006/relationships/hyperlink" Target="https://www.mokosmart.com/fr/partners/" TargetMode="External"/><Relationship Id="rId27" Type="http://schemas.openxmlformats.org/officeDocument/2006/relationships/hyperlink" Target="https://www.mokosmart.com/fr/partners/" TargetMode="External"/><Relationship Id="rId28" Type="http://schemas.openxmlformats.org/officeDocument/2006/relationships/hyperlink" Target="https://www.mokosmart.com/fr/partners/" TargetMode="External"/><Relationship Id="rId29" Type="http://schemas.openxmlformats.org/officeDocument/2006/relationships/hyperlink" Target="https://www.mokosmart.com/fr/partners/" TargetMode="External"/><Relationship Id="rId30" Type="http://schemas.openxmlformats.org/officeDocument/2006/relationships/hyperlink" Target="https://www.mokosmart.com/fr/contact/" TargetMode="External"/><Relationship Id="rId31" Type="http://schemas.openxmlformats.org/officeDocument/2006/relationships/image" Target="../media/image98.png"/><Relationship Id="rId32" Type="http://schemas.openxmlformats.org/officeDocument/2006/relationships/hyperlink" Target="http://store.mokosmart.com/?utm_source=mokosmart" TargetMode="External"/><Relationship Id="rId3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9.png"/><Relationship Id="rId2" Type="http://schemas.openxmlformats.org/officeDocument/2006/relationships/image" Target="../media/image100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1.jpeg"/><Relationship Id="rId2" Type="http://schemas.openxmlformats.org/officeDocument/2006/relationships/hyperlink" Target="http://store.mokosmart.com/?utm_source=mokosmart" TargetMode="External"/><Relationship Id="rId3" Type="http://schemas.openxmlformats.org/officeDocument/2006/relationships/image" Target="../media/image102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3.jpeg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hyperlink" Target="https://www.mokosmart.com/fr/contact/" TargetMode="External"/><Relationship Id="rId5" Type="http://schemas.openxmlformats.org/officeDocument/2006/relationships/image" Target="../media/image106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object 2"/>
          <p:cNvGrpSpPr/>
          <p:nvPr/>
        </p:nvGrpSpPr>
        <p:grpSpPr>
          <a:xfrm>
            <a:off x="457200" y="1314360"/>
            <a:ext cx="14211000" cy="6792840"/>
            <a:chOff x="457200" y="1314360"/>
            <a:chExt cx="14211000" cy="6792840"/>
          </a:xfrm>
        </p:grpSpPr>
        <p:pic>
          <p:nvPicPr>
            <p:cNvPr id="42" name="object 3" descr=""/>
            <p:cNvPicPr/>
            <p:nvPr/>
          </p:nvPicPr>
          <p:blipFill>
            <a:blip r:embed="rId1"/>
            <a:stretch/>
          </p:blipFill>
          <p:spPr>
            <a:xfrm>
              <a:off x="457200" y="1440000"/>
              <a:ext cx="14211000" cy="6667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3" name="object 5" descr=""/>
            <p:cNvPicPr/>
            <p:nvPr/>
          </p:nvPicPr>
          <p:blipFill>
            <a:blip r:embed="rId2"/>
            <a:stretch/>
          </p:blipFill>
          <p:spPr>
            <a:xfrm>
              <a:off x="5220000" y="2608200"/>
              <a:ext cx="4791960" cy="271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" name="object 6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"/>
            <p:cNvSpPr txBox="1"/>
            <p:nvPr/>
          </p:nvSpPr>
          <p:spPr>
            <a:xfrm>
              <a:off x="900000" y="1620000"/>
              <a:ext cx="13680000" cy="15843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>
                <a:buNone/>
              </a:pP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Opene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dHealt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h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Utilise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le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reseau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x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Interne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t,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LoRaW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AN,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Wifi et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Blueth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outh 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pour </a:t>
              </a:r>
              <a:endParaRPr b="0" lang="fr-FR" sz="3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object 2" descr=""/>
          <p:cNvPicPr/>
          <p:nvPr/>
        </p:nvPicPr>
        <p:blipFill>
          <a:blip r:embed="rId1"/>
          <a:stretch/>
        </p:blipFill>
        <p:spPr>
          <a:xfrm>
            <a:off x="5724360" y="1730520"/>
            <a:ext cx="3695760" cy="289080"/>
          </a:xfrm>
          <a:prstGeom prst="rect">
            <a:avLst/>
          </a:prstGeom>
          <a:ln w="0">
            <a:noFill/>
          </a:ln>
        </p:spPr>
      </p:pic>
      <p:grpSp>
        <p:nvGrpSpPr>
          <p:cNvPr id="47" name="object 3"/>
          <p:cNvGrpSpPr/>
          <p:nvPr/>
        </p:nvGrpSpPr>
        <p:grpSpPr>
          <a:xfrm>
            <a:off x="1943280" y="2838600"/>
            <a:ext cx="2666520" cy="3075480"/>
            <a:chOff x="1943280" y="2838600"/>
            <a:chExt cx="2666520" cy="3075480"/>
          </a:xfrm>
        </p:grpSpPr>
        <p:sp>
          <p:nvSpPr>
            <p:cNvPr id="48" name="object 4"/>
            <p:cNvSpPr/>
            <p:nvPr/>
          </p:nvSpPr>
          <p:spPr>
            <a:xfrm>
              <a:off x="1943280" y="2838600"/>
              <a:ext cx="2666520" cy="3075480"/>
            </a:xfrm>
            <a:custGeom>
              <a:avLst/>
              <a:gdLst/>
              <a:ahLst/>
              <a:rect l="l" t="t" r="r" b="b"/>
              <a:pathLst>
                <a:path w="2667000" h="3075940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069577"/>
                  </a:lnTo>
                  <a:lnTo>
                    <a:pt x="6350" y="3069577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075927"/>
                  </a:lnTo>
                  <a:lnTo>
                    <a:pt x="6350" y="3075927"/>
                  </a:lnTo>
                  <a:lnTo>
                    <a:pt x="2667000" y="3075927"/>
                  </a:lnTo>
                  <a:lnTo>
                    <a:pt x="2667000" y="306957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49" name="object 5" descr="">
              <a:hlinkClick r:id="rId2"/>
            </p:cNvPr>
            <p:cNvPicPr/>
            <p:nvPr/>
          </p:nvPicPr>
          <p:blipFill>
            <a:blip r:embed="rId3"/>
            <a:stretch/>
          </p:blipFill>
          <p:spPr>
            <a:xfrm>
              <a:off x="2675880" y="3170880"/>
              <a:ext cx="1080000" cy="2011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0" name="object 6" descr="">
              <a:hlinkClick r:id="rId4"/>
            </p:cNvPr>
            <p:cNvPicPr/>
            <p:nvPr/>
          </p:nvPicPr>
          <p:blipFill>
            <a:blip r:embed="rId5"/>
            <a:stretch/>
          </p:blipFill>
          <p:spPr>
            <a:xfrm>
              <a:off x="2379240" y="5535360"/>
              <a:ext cx="1799280" cy="115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1" name="object 7"/>
          <p:cNvGrpSpPr/>
          <p:nvPr/>
        </p:nvGrpSpPr>
        <p:grpSpPr>
          <a:xfrm>
            <a:off x="4800600" y="2838600"/>
            <a:ext cx="2666520" cy="3075480"/>
            <a:chOff x="4800600" y="2838600"/>
            <a:chExt cx="2666520" cy="3075480"/>
          </a:xfrm>
        </p:grpSpPr>
        <p:sp>
          <p:nvSpPr>
            <p:cNvPr id="52" name="object 8"/>
            <p:cNvSpPr/>
            <p:nvPr/>
          </p:nvSpPr>
          <p:spPr>
            <a:xfrm>
              <a:off x="4800600" y="2838600"/>
              <a:ext cx="2666520" cy="3075480"/>
            </a:xfrm>
            <a:custGeom>
              <a:avLst/>
              <a:gdLst/>
              <a:ahLst/>
              <a:rect l="l" t="t" r="r" b="b"/>
              <a:pathLst>
                <a:path w="2667000" h="3075940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069577"/>
                  </a:lnTo>
                  <a:lnTo>
                    <a:pt x="6350" y="3069577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075927"/>
                  </a:lnTo>
                  <a:lnTo>
                    <a:pt x="6350" y="3075927"/>
                  </a:lnTo>
                  <a:lnTo>
                    <a:pt x="2667000" y="3075927"/>
                  </a:lnTo>
                  <a:lnTo>
                    <a:pt x="2667000" y="306957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3" name="object 9" descr="">
              <a:hlinkClick r:id="rId6"/>
            </p:cNvPr>
            <p:cNvPicPr/>
            <p:nvPr/>
          </p:nvPicPr>
          <p:blipFill>
            <a:blip r:embed="rId7"/>
            <a:stretch/>
          </p:blipFill>
          <p:spPr>
            <a:xfrm>
              <a:off x="5551920" y="3217320"/>
              <a:ext cx="1741320" cy="2141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4" name="object 10" descr="">
              <a:hlinkClick r:id="rId8"/>
            </p:cNvPr>
            <p:cNvPicPr/>
            <p:nvPr/>
          </p:nvPicPr>
          <p:blipFill>
            <a:blip r:embed="rId9"/>
            <a:stretch/>
          </p:blipFill>
          <p:spPr>
            <a:xfrm>
              <a:off x="5653080" y="5535360"/>
              <a:ext cx="968400" cy="1152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5" name="object 11"/>
          <p:cNvGrpSpPr/>
          <p:nvPr/>
        </p:nvGrpSpPr>
        <p:grpSpPr>
          <a:xfrm>
            <a:off x="7658280" y="2838600"/>
            <a:ext cx="2666520" cy="3075480"/>
            <a:chOff x="7658280" y="2838600"/>
            <a:chExt cx="2666520" cy="3075480"/>
          </a:xfrm>
        </p:grpSpPr>
        <p:sp>
          <p:nvSpPr>
            <p:cNvPr id="56" name="object 12"/>
            <p:cNvSpPr/>
            <p:nvPr/>
          </p:nvSpPr>
          <p:spPr>
            <a:xfrm>
              <a:off x="7658280" y="2838600"/>
              <a:ext cx="2666520" cy="3075480"/>
            </a:xfrm>
            <a:custGeom>
              <a:avLst/>
              <a:gdLst/>
              <a:ahLst/>
              <a:rect l="l" t="t" r="r" b="b"/>
              <a:pathLst>
                <a:path w="2667000" h="3075940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069577"/>
                  </a:lnTo>
                  <a:lnTo>
                    <a:pt x="6350" y="3069577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075927"/>
                  </a:lnTo>
                  <a:lnTo>
                    <a:pt x="6350" y="3075927"/>
                  </a:lnTo>
                  <a:lnTo>
                    <a:pt x="2667000" y="3075927"/>
                  </a:lnTo>
                  <a:lnTo>
                    <a:pt x="2667000" y="306957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57" name="object 13" descr="">
              <a:hlinkClick r:id="rId10"/>
            </p:cNvPr>
            <p:cNvPicPr/>
            <p:nvPr/>
          </p:nvPicPr>
          <p:blipFill>
            <a:blip r:embed="rId11"/>
            <a:stretch/>
          </p:blipFill>
          <p:spPr>
            <a:xfrm>
              <a:off x="8130240" y="3328920"/>
              <a:ext cx="1722600" cy="1694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8" name="object 14" descr="">
              <a:hlinkClick r:id="rId12"/>
            </p:cNvPr>
            <p:cNvPicPr/>
            <p:nvPr/>
          </p:nvPicPr>
          <p:blipFill>
            <a:blip r:embed="rId13"/>
            <a:stretch/>
          </p:blipFill>
          <p:spPr>
            <a:xfrm>
              <a:off x="8329680" y="5535360"/>
              <a:ext cx="1329840" cy="1447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9" name="object 15"/>
          <p:cNvGrpSpPr/>
          <p:nvPr/>
        </p:nvGrpSpPr>
        <p:grpSpPr>
          <a:xfrm>
            <a:off x="10515600" y="2838600"/>
            <a:ext cx="2666520" cy="3075480"/>
            <a:chOff x="10515600" y="2838600"/>
            <a:chExt cx="2666520" cy="3075480"/>
          </a:xfrm>
        </p:grpSpPr>
        <p:sp>
          <p:nvSpPr>
            <p:cNvPr id="60" name="object 16"/>
            <p:cNvSpPr/>
            <p:nvPr/>
          </p:nvSpPr>
          <p:spPr>
            <a:xfrm>
              <a:off x="10515600" y="2838600"/>
              <a:ext cx="2666520" cy="3075480"/>
            </a:xfrm>
            <a:custGeom>
              <a:avLst/>
              <a:gdLst/>
              <a:ahLst/>
              <a:rect l="l" t="t" r="r" b="b"/>
              <a:pathLst>
                <a:path w="2667000" h="3075940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069577"/>
                  </a:lnTo>
                  <a:lnTo>
                    <a:pt x="6350" y="3069577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075927"/>
                  </a:lnTo>
                  <a:lnTo>
                    <a:pt x="6350" y="3075927"/>
                  </a:lnTo>
                  <a:lnTo>
                    <a:pt x="2667000" y="3075927"/>
                  </a:lnTo>
                  <a:lnTo>
                    <a:pt x="2667000" y="306957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1" name="object 17" descr="">
              <a:hlinkClick r:id="rId14"/>
            </p:cNvPr>
            <p:cNvPicPr/>
            <p:nvPr/>
          </p:nvPicPr>
          <p:blipFill>
            <a:blip r:embed="rId15"/>
            <a:stretch/>
          </p:blipFill>
          <p:spPr>
            <a:xfrm>
              <a:off x="11192400" y="3245400"/>
              <a:ext cx="1312920" cy="1955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2" name="object 18" descr="">
              <a:hlinkClick r:id="rId16"/>
            </p:cNvPr>
            <p:cNvPicPr/>
            <p:nvPr/>
          </p:nvPicPr>
          <p:blipFill>
            <a:blip r:embed="rId17"/>
            <a:stretch/>
          </p:blipFill>
          <p:spPr>
            <a:xfrm>
              <a:off x="10922760" y="5533560"/>
              <a:ext cx="1859760" cy="1170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3" name="object 19"/>
          <p:cNvGrpSpPr/>
          <p:nvPr/>
        </p:nvGrpSpPr>
        <p:grpSpPr>
          <a:xfrm>
            <a:off x="1943280" y="6581160"/>
            <a:ext cx="2666520" cy="3132720"/>
            <a:chOff x="1943280" y="6581160"/>
            <a:chExt cx="2666520" cy="3132720"/>
          </a:xfrm>
        </p:grpSpPr>
        <p:sp>
          <p:nvSpPr>
            <p:cNvPr id="64" name="object 20"/>
            <p:cNvSpPr/>
            <p:nvPr/>
          </p:nvSpPr>
          <p:spPr>
            <a:xfrm>
              <a:off x="1943280" y="6581160"/>
              <a:ext cx="2666520" cy="3132720"/>
            </a:xfrm>
            <a:custGeom>
              <a:avLst/>
              <a:gdLst/>
              <a:ahLst/>
              <a:rect l="l" t="t" r="r" b="b"/>
              <a:pathLst>
                <a:path w="2667000" h="3133090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126727"/>
                  </a:lnTo>
                  <a:lnTo>
                    <a:pt x="6350" y="3126727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133077"/>
                  </a:lnTo>
                  <a:lnTo>
                    <a:pt x="6350" y="3133077"/>
                  </a:lnTo>
                  <a:lnTo>
                    <a:pt x="2667000" y="3133077"/>
                  </a:lnTo>
                  <a:lnTo>
                    <a:pt x="2667000" y="312672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5" name="object 21" descr="">
              <a:hlinkClick r:id="rId18"/>
            </p:cNvPr>
            <p:cNvPicPr/>
            <p:nvPr/>
          </p:nvPicPr>
          <p:blipFill>
            <a:blip r:embed="rId19"/>
            <a:stretch/>
          </p:blipFill>
          <p:spPr>
            <a:xfrm>
              <a:off x="2564280" y="6857640"/>
              <a:ext cx="1433880" cy="2030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6" name="object 22" descr="">
              <a:hlinkClick r:id="rId20"/>
            </p:cNvPr>
            <p:cNvPicPr/>
            <p:nvPr/>
          </p:nvPicPr>
          <p:blipFill>
            <a:blip r:embed="rId21"/>
            <a:stretch/>
          </p:blipFill>
          <p:spPr>
            <a:xfrm>
              <a:off x="2829600" y="9163800"/>
              <a:ext cx="900360" cy="1447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7" name="object 23"/>
          <p:cNvGrpSpPr/>
          <p:nvPr/>
        </p:nvGrpSpPr>
        <p:grpSpPr>
          <a:xfrm>
            <a:off x="4800600" y="6581160"/>
            <a:ext cx="2666520" cy="3132720"/>
            <a:chOff x="4800600" y="6581160"/>
            <a:chExt cx="2666520" cy="3132720"/>
          </a:xfrm>
        </p:grpSpPr>
        <p:sp>
          <p:nvSpPr>
            <p:cNvPr id="68" name="object 24"/>
            <p:cNvSpPr/>
            <p:nvPr/>
          </p:nvSpPr>
          <p:spPr>
            <a:xfrm>
              <a:off x="4800600" y="6581160"/>
              <a:ext cx="2666520" cy="3132720"/>
            </a:xfrm>
            <a:custGeom>
              <a:avLst/>
              <a:gdLst/>
              <a:ahLst/>
              <a:rect l="l" t="t" r="r" b="b"/>
              <a:pathLst>
                <a:path w="2667000" h="3133090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126727"/>
                  </a:lnTo>
                  <a:lnTo>
                    <a:pt x="6350" y="3126727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133077"/>
                  </a:lnTo>
                  <a:lnTo>
                    <a:pt x="6350" y="3133077"/>
                  </a:lnTo>
                  <a:lnTo>
                    <a:pt x="2667000" y="3133077"/>
                  </a:lnTo>
                  <a:lnTo>
                    <a:pt x="2667000" y="312672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69" name="object 25" descr="">
              <a:hlinkClick r:id="rId22"/>
            </p:cNvPr>
            <p:cNvPicPr/>
            <p:nvPr/>
          </p:nvPicPr>
          <p:blipFill>
            <a:blip r:embed="rId23"/>
            <a:stretch/>
          </p:blipFill>
          <p:spPr>
            <a:xfrm>
              <a:off x="5710320" y="6829560"/>
              <a:ext cx="847080" cy="2085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0" name="object 26" descr="">
              <a:hlinkClick r:id="rId24"/>
            </p:cNvPr>
            <p:cNvPicPr/>
            <p:nvPr/>
          </p:nvPicPr>
          <p:blipFill>
            <a:blip r:embed="rId25"/>
            <a:stretch/>
          </p:blipFill>
          <p:spPr>
            <a:xfrm>
              <a:off x="5460840" y="9163800"/>
              <a:ext cx="1357200" cy="14472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1" name="object 27"/>
          <p:cNvGrpSpPr/>
          <p:nvPr/>
        </p:nvGrpSpPr>
        <p:grpSpPr>
          <a:xfrm>
            <a:off x="7658280" y="6581160"/>
            <a:ext cx="2666520" cy="3132720"/>
            <a:chOff x="7658280" y="6581160"/>
            <a:chExt cx="2666520" cy="3132720"/>
          </a:xfrm>
        </p:grpSpPr>
        <p:sp>
          <p:nvSpPr>
            <p:cNvPr id="72" name="object 28"/>
            <p:cNvSpPr/>
            <p:nvPr/>
          </p:nvSpPr>
          <p:spPr>
            <a:xfrm>
              <a:off x="7658280" y="6581160"/>
              <a:ext cx="2666520" cy="3132720"/>
            </a:xfrm>
            <a:custGeom>
              <a:avLst/>
              <a:gdLst/>
              <a:ahLst/>
              <a:rect l="l" t="t" r="r" b="b"/>
              <a:pathLst>
                <a:path w="2667000" h="3133090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126727"/>
                  </a:lnTo>
                  <a:lnTo>
                    <a:pt x="6350" y="3126727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133077"/>
                  </a:lnTo>
                  <a:lnTo>
                    <a:pt x="6350" y="3133077"/>
                  </a:lnTo>
                  <a:lnTo>
                    <a:pt x="2667000" y="3133077"/>
                  </a:lnTo>
                  <a:lnTo>
                    <a:pt x="2667000" y="3126727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3" name="object 29" descr="">
              <a:hlinkClick r:id="rId26"/>
            </p:cNvPr>
            <p:cNvPicPr/>
            <p:nvPr/>
          </p:nvPicPr>
          <p:blipFill>
            <a:blip r:embed="rId27"/>
            <a:stretch/>
          </p:blipFill>
          <p:spPr>
            <a:xfrm>
              <a:off x="8418960" y="6904080"/>
              <a:ext cx="1191600" cy="1927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4" name="object 30" descr="">
              <a:hlinkClick r:id="rId28"/>
            </p:cNvPr>
            <p:cNvPicPr/>
            <p:nvPr/>
          </p:nvPicPr>
          <p:blipFill>
            <a:blip r:embed="rId29"/>
            <a:stretch/>
          </p:blipFill>
          <p:spPr>
            <a:xfrm>
              <a:off x="8044200" y="9168120"/>
              <a:ext cx="1889280" cy="1108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75" name="object 31"/>
          <p:cNvGrpSpPr/>
          <p:nvPr/>
        </p:nvGrpSpPr>
        <p:grpSpPr>
          <a:xfrm>
            <a:off x="10515600" y="6581160"/>
            <a:ext cx="2666520" cy="3142080"/>
            <a:chOff x="10515600" y="6581160"/>
            <a:chExt cx="2666520" cy="3142080"/>
          </a:xfrm>
        </p:grpSpPr>
        <p:sp>
          <p:nvSpPr>
            <p:cNvPr id="76" name="object 32"/>
            <p:cNvSpPr/>
            <p:nvPr/>
          </p:nvSpPr>
          <p:spPr>
            <a:xfrm>
              <a:off x="10515600" y="6581160"/>
              <a:ext cx="2666520" cy="3142080"/>
            </a:xfrm>
            <a:custGeom>
              <a:avLst/>
              <a:gdLst/>
              <a:ahLst/>
              <a:rect l="l" t="t" r="r" b="b"/>
              <a:pathLst>
                <a:path w="2667000" h="3142615">
                  <a:moveTo>
                    <a:pt x="2667000" y="0"/>
                  </a:moveTo>
                  <a:lnTo>
                    <a:pt x="2660650" y="0"/>
                  </a:lnTo>
                  <a:lnTo>
                    <a:pt x="2660650" y="6350"/>
                  </a:lnTo>
                  <a:lnTo>
                    <a:pt x="2660650" y="3136252"/>
                  </a:lnTo>
                  <a:lnTo>
                    <a:pt x="6350" y="3136252"/>
                  </a:lnTo>
                  <a:lnTo>
                    <a:pt x="6350" y="6350"/>
                  </a:lnTo>
                  <a:lnTo>
                    <a:pt x="2660650" y="6350"/>
                  </a:lnTo>
                  <a:lnTo>
                    <a:pt x="26606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3142602"/>
                  </a:lnTo>
                  <a:lnTo>
                    <a:pt x="6350" y="3142602"/>
                  </a:lnTo>
                  <a:lnTo>
                    <a:pt x="2667000" y="3142602"/>
                  </a:lnTo>
                  <a:lnTo>
                    <a:pt x="2667000" y="3136252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bfbf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77" name="object 33" descr="">
              <a:hlinkClick r:id="rId30"/>
            </p:cNvPr>
            <p:cNvPicPr/>
            <p:nvPr/>
          </p:nvPicPr>
          <p:blipFill>
            <a:blip r:embed="rId31"/>
            <a:stretch/>
          </p:blipFill>
          <p:spPr>
            <a:xfrm>
              <a:off x="11406600" y="6867000"/>
              <a:ext cx="902880" cy="1973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8" name="object 34" descr="">
              <a:hlinkClick r:id="rId32"/>
            </p:cNvPr>
            <p:cNvPicPr/>
            <p:nvPr/>
          </p:nvPicPr>
          <p:blipFill>
            <a:blip r:embed="rId33"/>
            <a:stretch/>
          </p:blipFill>
          <p:spPr>
            <a:xfrm>
              <a:off x="10695600" y="9140760"/>
              <a:ext cx="2311920" cy="115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9" name="object 35" descr="">
              <a:hlinkClick r:id="rId34"/>
            </p:cNvPr>
            <p:cNvPicPr/>
            <p:nvPr/>
          </p:nvPicPr>
          <p:blipFill>
            <a:blip r:embed="rId35"/>
            <a:stretch/>
          </p:blipFill>
          <p:spPr>
            <a:xfrm>
              <a:off x="11503800" y="9339120"/>
              <a:ext cx="685800" cy="115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0" name="object 36"/>
          <p:cNvSpPr/>
          <p:nvPr/>
        </p:nvSpPr>
        <p:spPr>
          <a:xfrm>
            <a:off x="457200" y="1314360"/>
            <a:ext cx="13448880" cy="6120"/>
          </a:xfrm>
          <a:custGeom>
            <a:avLst/>
            <a:gdLst/>
            <a:ahLst/>
            <a:rect l="l" t="t" r="r" b="b"/>
            <a:pathLst>
              <a:path w="13449300" h="6350">
                <a:moveTo>
                  <a:pt x="13449300" y="6350"/>
                </a:moveTo>
                <a:lnTo>
                  <a:pt x="0" y="6350"/>
                </a:lnTo>
                <a:lnTo>
                  <a:pt x="0" y="0"/>
                </a:lnTo>
                <a:lnTo>
                  <a:pt x="13449300" y="0"/>
                </a:lnTo>
                <a:lnTo>
                  <a:pt x="13449300" y="6350"/>
                </a:lnTo>
                <a:close/>
              </a:path>
            </a:pathLst>
          </a:custGeom>
          <a:solidFill>
            <a:srgbClr val="d6d8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bject 2"/>
          <p:cNvSpPr/>
          <p:nvPr/>
        </p:nvSpPr>
        <p:spPr>
          <a:xfrm>
            <a:off x="457200" y="457200"/>
            <a:ext cx="14211000" cy="9570960"/>
          </a:xfrm>
          <a:custGeom>
            <a:avLst/>
            <a:gdLst/>
            <a:ahLst/>
            <a:rect l="l" t="t" r="r" b="b"/>
            <a:pathLst>
              <a:path w="14211300" h="9571355">
                <a:moveTo>
                  <a:pt x="14211300" y="9570745"/>
                </a:moveTo>
                <a:lnTo>
                  <a:pt x="0" y="9570745"/>
                </a:lnTo>
                <a:lnTo>
                  <a:pt x="0" y="0"/>
                </a:lnTo>
                <a:lnTo>
                  <a:pt x="14211300" y="0"/>
                </a:lnTo>
                <a:lnTo>
                  <a:pt x="14211300" y="9570745"/>
                </a:lnTo>
                <a:close/>
              </a:path>
            </a:pathLst>
          </a:custGeom>
          <a:solidFill>
            <a:srgbClr val="ebeb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2" name="object 3" descr=""/>
          <p:cNvPicPr/>
          <p:nvPr/>
        </p:nvPicPr>
        <p:blipFill>
          <a:blip r:embed="rId1"/>
          <a:stretch/>
        </p:blipFill>
        <p:spPr>
          <a:xfrm>
            <a:off x="5551920" y="1444680"/>
            <a:ext cx="4034880" cy="362880"/>
          </a:xfrm>
          <a:prstGeom prst="rect">
            <a:avLst/>
          </a:prstGeom>
          <a:ln w="0">
            <a:noFill/>
          </a:ln>
        </p:spPr>
      </p:pic>
      <p:sp>
        <p:nvSpPr>
          <p:cNvPr id="83" name="object 4"/>
          <p:cNvSpPr/>
          <p:nvPr/>
        </p:nvSpPr>
        <p:spPr>
          <a:xfrm>
            <a:off x="2315880" y="2211840"/>
            <a:ext cx="10493640" cy="83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92880" indent="-80640">
              <a:lnSpc>
                <a:spcPct val="133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L'Internet</a:t>
            </a:r>
            <a:r>
              <a:rPr b="0" lang="fr-FR" sz="1350" spc="-6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оbjetз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(IоT)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viзe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92" strike="noStrike">
                <a:solidFill>
                  <a:srgbClr val="545454"/>
                </a:solidFill>
                <a:latin typeface="Roboto"/>
              </a:rPr>
              <a:t>зimpli�er</a:t>
            </a:r>
            <a:r>
              <a:rPr b="0" lang="fr-FR" sz="135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vie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tоuз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зeсteurз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d'aсtivité.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L'оbjeсtif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d'alléger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tâсheз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ratiоnaliзant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leз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prосeззuз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соmplexeз.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зоlutiоnз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médiсaleз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y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parviennent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pluзieurз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manièreз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préзentent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avantageз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généraux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зuivantз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84" name="object 5" descr=""/>
          <p:cNvPicPr/>
          <p:nvPr/>
        </p:nvPicPr>
        <p:blipFill>
          <a:blip r:embed="rId2"/>
          <a:stretch/>
        </p:blipFill>
        <p:spPr>
          <a:xfrm>
            <a:off x="2395440" y="33242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85" name="object 6"/>
          <p:cNvSpPr/>
          <p:nvPr/>
        </p:nvSpPr>
        <p:spPr>
          <a:xfrm>
            <a:off x="2415600" y="5437800"/>
            <a:ext cx="186480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1440">
              <a:lnSpc>
                <a:spcPct val="108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Réduire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erreurз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danз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prосeззuз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médiсaux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205240" y="33242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87" name="object 8"/>
          <p:cNvSpPr/>
          <p:nvPr/>
        </p:nvSpPr>
        <p:spPr>
          <a:xfrm>
            <a:off x="5330880" y="5437800"/>
            <a:ext cx="165384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72880" indent="-261000">
              <a:lnSpc>
                <a:spcPct val="108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Réduire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соûtз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deз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зоinз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зanté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88" name="object 9" descr=""/>
          <p:cNvPicPr/>
          <p:nvPr/>
        </p:nvPicPr>
        <p:blipFill>
          <a:blip r:embed="rId4"/>
          <a:stretch/>
        </p:blipFill>
        <p:spPr>
          <a:xfrm>
            <a:off x="8015400" y="33242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89" name="object 10"/>
          <p:cNvSpPr/>
          <p:nvPr/>
        </p:nvSpPr>
        <p:spPr>
          <a:xfrm>
            <a:off x="8115480" y="5437800"/>
            <a:ext cx="170388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4120" indent="-371520">
              <a:lnSpc>
                <a:spcPct val="108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Améliоrer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l'expérienсe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patientз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90" name="object 11" descr=""/>
          <p:cNvPicPr/>
          <p:nvPr/>
        </p:nvPicPr>
        <p:blipFill>
          <a:blip r:embed="rId5"/>
          <a:stretch/>
        </p:blipFill>
        <p:spPr>
          <a:xfrm>
            <a:off x="10825200" y="33242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91" name="object 12"/>
          <p:cNvSpPr/>
          <p:nvPr/>
        </p:nvSpPr>
        <p:spPr>
          <a:xfrm>
            <a:off x="10990800" y="5455080"/>
            <a:ext cx="15732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Améliоrer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l'e�сaсité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92" name="object 13" descr=""/>
          <p:cNvPicPr/>
          <p:nvPr/>
        </p:nvPicPr>
        <p:blipFill>
          <a:blip r:embed="rId6"/>
          <a:stretch/>
        </p:blipFill>
        <p:spPr>
          <a:xfrm>
            <a:off x="2395440" y="63266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93" name="object 14"/>
          <p:cNvSpPr/>
          <p:nvPr/>
        </p:nvSpPr>
        <p:spPr>
          <a:xfrm>
            <a:off x="2409840" y="8457120"/>
            <a:ext cx="187596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Faсiliter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télémédeсine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94" name="object 15" descr=""/>
          <p:cNvPicPr/>
          <p:nvPr/>
        </p:nvPicPr>
        <p:blipFill>
          <a:blip r:embed="rId7"/>
          <a:stretch/>
        </p:blipFill>
        <p:spPr>
          <a:xfrm>
            <a:off x="5205240" y="63266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95" name="object 16"/>
          <p:cNvSpPr/>
          <p:nvPr/>
        </p:nvSpPr>
        <p:spPr>
          <a:xfrm>
            <a:off x="5428800" y="8440200"/>
            <a:ext cx="145836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25920">
              <a:lnSpc>
                <a:spcPct val="108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Améliоratiоn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la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geзtiоn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зtосkз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96" name="object 17" descr=""/>
          <p:cNvPicPr/>
          <p:nvPr/>
        </p:nvPicPr>
        <p:blipFill>
          <a:blip r:embed="rId8"/>
          <a:stretch/>
        </p:blipFill>
        <p:spPr>
          <a:xfrm>
            <a:off x="8015400" y="63266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97" name="object 18"/>
          <p:cNvSpPr/>
          <p:nvPr/>
        </p:nvSpPr>
        <p:spPr>
          <a:xfrm>
            <a:off x="8150400" y="8440200"/>
            <a:ext cx="1635480" cy="67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69800" indent="-457200">
              <a:lnSpc>
                <a:spcPct val="108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Sоutenir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reсherсhe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médiсale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98" name="object 19" descr=""/>
          <p:cNvPicPr/>
          <p:nvPr/>
        </p:nvPicPr>
        <p:blipFill>
          <a:blip r:embed="rId9"/>
          <a:stretch/>
        </p:blipFill>
        <p:spPr>
          <a:xfrm>
            <a:off x="10825200" y="6326640"/>
            <a:ext cx="1904760" cy="1904760"/>
          </a:xfrm>
          <a:prstGeom prst="rect">
            <a:avLst/>
          </a:prstGeom>
          <a:ln w="0">
            <a:noFill/>
          </a:ln>
        </p:spPr>
      </p:pic>
      <p:sp>
        <p:nvSpPr>
          <p:cNvPr id="99" name="object 20"/>
          <p:cNvSpPr/>
          <p:nvPr/>
        </p:nvSpPr>
        <p:spPr>
          <a:xfrm>
            <a:off x="10888920" y="8440200"/>
            <a:ext cx="177768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240" algn="ctr">
              <a:lnSpc>
                <a:spcPct val="108000"/>
              </a:lnSpc>
              <a:spcBef>
                <a:spcPts val="99"/>
              </a:spcBef>
              <a:buNone/>
            </a:pP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Améliоrer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l'analyзe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deз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35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35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leз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prосédureз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médiсaleз</a:t>
            </a:r>
            <a:endParaRPr b="0" lang="fr-FR" sz="1350" spc="-1" strike="noStrike">
              <a:latin typeface="Arial"/>
            </a:endParaRPr>
          </a:p>
        </p:txBody>
      </p:sp>
      <p:grpSp>
        <p:nvGrpSpPr>
          <p:cNvPr id="100" name="object 21"/>
          <p:cNvGrpSpPr/>
          <p:nvPr/>
        </p:nvGrpSpPr>
        <p:grpSpPr>
          <a:xfrm>
            <a:off x="457200" y="457200"/>
            <a:ext cx="13448880" cy="863280"/>
            <a:chOff x="457200" y="457200"/>
            <a:chExt cx="13448880" cy="863280"/>
          </a:xfrm>
        </p:grpSpPr>
        <p:sp>
          <p:nvSpPr>
            <p:cNvPr id="101" name="object 22"/>
            <p:cNvSpPr/>
            <p:nvPr/>
          </p:nvSpPr>
          <p:spPr>
            <a:xfrm>
              <a:off x="457200" y="457200"/>
              <a:ext cx="13448880" cy="863280"/>
            </a:xfrm>
            <a:custGeom>
              <a:avLst/>
              <a:gdLst/>
              <a:ahLst/>
              <a:rect l="l" t="t" r="r" b="b"/>
              <a:pathLst>
                <a:path w="13449300" h="863600">
                  <a:moveTo>
                    <a:pt x="13449300" y="863600"/>
                  </a:moveTo>
                  <a:lnTo>
                    <a:pt x="0" y="86360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8636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object 23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3" name="object 24" descr="">
              <a:hlinkClick r:id="rId10"/>
            </p:cNvPr>
            <p:cNvPicPr/>
            <p:nvPr/>
          </p:nvPicPr>
          <p:blipFill>
            <a:blip r:embed="rId11"/>
            <a:stretch/>
          </p:blipFill>
          <p:spPr>
            <a:xfrm>
              <a:off x="12838320" y="719280"/>
              <a:ext cx="333000" cy="333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4" name=""/>
            <p:cNvSpPr txBox="1"/>
            <p:nvPr/>
          </p:nvSpPr>
          <p:spPr>
            <a:xfrm>
              <a:off x="483840" y="457200"/>
              <a:ext cx="2936160" cy="5464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OpenedHealth</a:t>
              </a:r>
              <a:endParaRPr b="0" lang="fr-FR" sz="3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object 2"/>
          <p:cNvSpPr/>
          <p:nvPr/>
        </p:nvSpPr>
        <p:spPr>
          <a:xfrm>
            <a:off x="457200" y="457200"/>
            <a:ext cx="14211000" cy="8480160"/>
          </a:xfrm>
          <a:custGeom>
            <a:avLst/>
            <a:gdLst/>
            <a:ahLst/>
            <a:rect l="l" t="t" r="r" b="b"/>
            <a:pathLst>
              <a:path w="14211300" h="8480425">
                <a:moveTo>
                  <a:pt x="14211300" y="8480425"/>
                </a:moveTo>
                <a:lnTo>
                  <a:pt x="0" y="8480425"/>
                </a:lnTo>
                <a:lnTo>
                  <a:pt x="0" y="0"/>
                </a:lnTo>
                <a:lnTo>
                  <a:pt x="14211300" y="0"/>
                </a:lnTo>
                <a:lnTo>
                  <a:pt x="14211300" y="8480425"/>
                </a:lnTo>
                <a:close/>
              </a:path>
            </a:pathLst>
          </a:custGeom>
          <a:solidFill>
            <a:srgbClr val="e6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6" name="object 3" descr=""/>
          <p:cNvPicPr/>
          <p:nvPr/>
        </p:nvPicPr>
        <p:blipFill>
          <a:blip r:embed="rId1"/>
          <a:stretch/>
        </p:blipFill>
        <p:spPr>
          <a:xfrm>
            <a:off x="3826800" y="1631160"/>
            <a:ext cx="7476120" cy="366840"/>
          </a:xfrm>
          <a:prstGeom prst="rect">
            <a:avLst/>
          </a:prstGeom>
          <a:ln w="0">
            <a:noFill/>
          </a:ln>
        </p:spPr>
      </p:pic>
      <p:pic>
        <p:nvPicPr>
          <p:cNvPr id="107" name="object 4" descr=""/>
          <p:cNvPicPr/>
          <p:nvPr/>
        </p:nvPicPr>
        <p:blipFill>
          <a:blip r:embed="rId2"/>
          <a:stretch/>
        </p:blipFill>
        <p:spPr>
          <a:xfrm>
            <a:off x="1612800" y="2552760"/>
            <a:ext cx="11902680" cy="4765320"/>
          </a:xfrm>
          <a:prstGeom prst="rect">
            <a:avLst/>
          </a:prstGeom>
          <a:ln w="0">
            <a:noFill/>
          </a:ln>
        </p:spPr>
      </p:pic>
      <p:sp>
        <p:nvSpPr>
          <p:cNvPr id="108" name="object 5"/>
          <p:cNvSpPr/>
          <p:nvPr/>
        </p:nvSpPr>
        <p:spPr>
          <a:xfrm>
            <a:off x="1838160" y="4609800"/>
            <a:ext cx="5350320" cy="79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1680" bIns="0" anchor="t">
            <a:spAutoFit/>
          </a:bodyPr>
          <a:p>
            <a:pPr marL="12600">
              <a:lnSpc>
                <a:spcPts val="1500"/>
              </a:lnSpc>
              <a:spcBef>
                <a:spcPts val="249"/>
              </a:spcBef>
              <a:buNone/>
            </a:pP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hôpitaux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utiliзer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baliзeз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diffuзer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deз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infоrmatiоnз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enregiзtrer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autоmatiquement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infоrmatiоnз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d'enregiзtrement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patientз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lоrзqu'ilз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entrent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l'hôpital,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évitant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ainзi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lоngueз</a:t>
            </a:r>
            <a:r>
              <a:rPr b="0" lang="fr-FR" sz="135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82" strike="noStrike">
                <a:solidFill>
                  <a:srgbClr val="545454"/>
                </a:solidFill>
                <a:latin typeface="Roboto"/>
              </a:rPr>
              <a:t>�leз</a:t>
            </a:r>
            <a:r>
              <a:rPr b="0" lang="fr-FR" sz="135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d'attente.</a:t>
            </a:r>
            <a:endParaRPr b="0" lang="fr-FR" sz="1350" spc="-1" strike="noStrike">
              <a:latin typeface="Arial"/>
            </a:endParaRPr>
          </a:p>
        </p:txBody>
      </p:sp>
      <p:pic>
        <p:nvPicPr>
          <p:cNvPr id="109" name="object 6" descr=""/>
          <p:cNvPicPr/>
          <p:nvPr/>
        </p:nvPicPr>
        <p:blipFill>
          <a:blip r:embed="rId3"/>
          <a:stretch/>
        </p:blipFill>
        <p:spPr>
          <a:xfrm>
            <a:off x="7851600" y="2844720"/>
            <a:ext cx="5428800" cy="4190760"/>
          </a:xfrm>
          <a:prstGeom prst="rect">
            <a:avLst/>
          </a:prstGeom>
          <a:ln w="0">
            <a:noFill/>
          </a:ln>
        </p:spPr>
      </p:pic>
      <p:pic>
        <p:nvPicPr>
          <p:cNvPr id="110" name="object 7" descr=""/>
          <p:cNvPicPr/>
          <p:nvPr/>
        </p:nvPicPr>
        <p:blipFill>
          <a:blip r:embed="rId4"/>
          <a:stretch/>
        </p:blipFill>
        <p:spPr>
          <a:xfrm>
            <a:off x="7165800" y="7802280"/>
            <a:ext cx="114120" cy="114120"/>
          </a:xfrm>
          <a:prstGeom prst="rect">
            <a:avLst/>
          </a:prstGeom>
          <a:ln w="0">
            <a:noFill/>
          </a:ln>
        </p:spPr>
      </p:pic>
      <p:pic>
        <p:nvPicPr>
          <p:cNvPr id="111" name="object 8" descr=""/>
          <p:cNvPicPr/>
          <p:nvPr/>
        </p:nvPicPr>
        <p:blipFill>
          <a:blip r:embed="rId5"/>
          <a:stretch/>
        </p:blipFill>
        <p:spPr>
          <a:xfrm>
            <a:off x="7394400" y="7802280"/>
            <a:ext cx="114120" cy="114120"/>
          </a:xfrm>
          <a:prstGeom prst="rect">
            <a:avLst/>
          </a:prstGeom>
          <a:ln w="0">
            <a:noFill/>
          </a:ln>
        </p:spPr>
      </p:pic>
      <p:pic>
        <p:nvPicPr>
          <p:cNvPr id="112" name="object 9" descr=""/>
          <p:cNvPicPr/>
          <p:nvPr/>
        </p:nvPicPr>
        <p:blipFill>
          <a:blip r:embed="rId6"/>
          <a:stretch/>
        </p:blipFill>
        <p:spPr>
          <a:xfrm>
            <a:off x="7623000" y="7802280"/>
            <a:ext cx="114120" cy="114120"/>
          </a:xfrm>
          <a:prstGeom prst="rect">
            <a:avLst/>
          </a:prstGeom>
          <a:ln w="0">
            <a:noFill/>
          </a:ln>
        </p:spPr>
      </p:pic>
      <p:pic>
        <p:nvPicPr>
          <p:cNvPr id="113" name="object 10" descr=""/>
          <p:cNvPicPr/>
          <p:nvPr/>
        </p:nvPicPr>
        <p:blipFill>
          <a:blip r:embed="rId7"/>
          <a:stretch/>
        </p:blipFill>
        <p:spPr>
          <a:xfrm>
            <a:off x="7851600" y="7802280"/>
            <a:ext cx="114120" cy="114120"/>
          </a:xfrm>
          <a:prstGeom prst="rect">
            <a:avLst/>
          </a:prstGeom>
          <a:ln w="0">
            <a:noFill/>
          </a:ln>
        </p:spPr>
      </p:pic>
      <p:grpSp>
        <p:nvGrpSpPr>
          <p:cNvPr id="114" name="object 11"/>
          <p:cNvGrpSpPr/>
          <p:nvPr/>
        </p:nvGrpSpPr>
        <p:grpSpPr>
          <a:xfrm>
            <a:off x="457200" y="360000"/>
            <a:ext cx="13448880" cy="960480"/>
            <a:chOff x="457200" y="360000"/>
            <a:chExt cx="13448880" cy="960480"/>
          </a:xfrm>
        </p:grpSpPr>
        <p:sp>
          <p:nvSpPr>
            <p:cNvPr id="115" name="object 12"/>
            <p:cNvSpPr/>
            <p:nvPr/>
          </p:nvSpPr>
          <p:spPr>
            <a:xfrm>
              <a:off x="457200" y="457200"/>
              <a:ext cx="13448880" cy="863280"/>
            </a:xfrm>
            <a:custGeom>
              <a:avLst/>
              <a:gdLst/>
              <a:ahLst/>
              <a:rect l="l" t="t" r="r" b="b"/>
              <a:pathLst>
                <a:path w="13449300" h="863600">
                  <a:moveTo>
                    <a:pt x="13449300" y="863600"/>
                  </a:moveTo>
                  <a:lnTo>
                    <a:pt x="0" y="86360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8636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object 13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17" name="object 14" descr="">
              <a:hlinkClick r:id="rId8"/>
            </p:cNvPr>
            <p:cNvPicPr/>
            <p:nvPr/>
          </p:nvPicPr>
          <p:blipFill>
            <a:blip r:embed="rId9"/>
            <a:stretch/>
          </p:blipFill>
          <p:spPr>
            <a:xfrm>
              <a:off x="12838320" y="719280"/>
              <a:ext cx="333000" cy="333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8" name=""/>
            <p:cNvSpPr txBox="1"/>
            <p:nvPr/>
          </p:nvSpPr>
          <p:spPr>
            <a:xfrm>
              <a:off x="457200" y="360000"/>
              <a:ext cx="2936160" cy="5464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Open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edHe</a:t>
              </a:r>
              <a:r>
                <a:rPr b="1" lang="fr-FR" sz="3200" spc="-1" strike="noStrike">
                  <a:solidFill>
                    <a:srgbClr val="729fcf"/>
                  </a:solidFill>
                  <a:latin typeface="Arial"/>
                </a:rPr>
                <a:t>alth</a:t>
              </a:r>
              <a:endParaRPr b="0" lang="fr-FR" sz="3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object 2"/>
          <p:cNvGrpSpPr/>
          <p:nvPr/>
        </p:nvGrpSpPr>
        <p:grpSpPr>
          <a:xfrm>
            <a:off x="457200" y="457200"/>
            <a:ext cx="14211000" cy="7158600"/>
            <a:chOff x="457200" y="457200"/>
            <a:chExt cx="14211000" cy="7158600"/>
          </a:xfrm>
        </p:grpSpPr>
        <p:sp>
          <p:nvSpPr>
            <p:cNvPr id="120" name="object 3"/>
            <p:cNvSpPr/>
            <p:nvPr/>
          </p:nvSpPr>
          <p:spPr>
            <a:xfrm>
              <a:off x="457200" y="457200"/>
              <a:ext cx="14211000" cy="3348720"/>
            </a:xfrm>
            <a:custGeom>
              <a:avLst/>
              <a:gdLst/>
              <a:ahLst/>
              <a:rect l="l" t="t" r="r" b="b"/>
              <a:pathLst>
                <a:path w="14211300" h="3348990">
                  <a:moveTo>
                    <a:pt x="14211300" y="3348977"/>
                  </a:moveTo>
                  <a:lnTo>
                    <a:pt x="0" y="3348977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3348977"/>
                  </a:lnTo>
                  <a:close/>
                </a:path>
              </a:pathLst>
            </a:custGeom>
            <a:solidFill>
              <a:srgbClr val="00bc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21" name="object 4" descr=""/>
            <p:cNvPicPr/>
            <p:nvPr/>
          </p:nvPicPr>
          <p:blipFill>
            <a:blip r:embed="rId1"/>
            <a:stretch/>
          </p:blipFill>
          <p:spPr>
            <a:xfrm>
              <a:off x="457200" y="3806280"/>
              <a:ext cx="14211000" cy="3809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2" name="object 5" descr=""/>
            <p:cNvPicPr/>
            <p:nvPr/>
          </p:nvPicPr>
          <p:blipFill>
            <a:blip r:embed="rId2"/>
            <a:stretch/>
          </p:blipFill>
          <p:spPr>
            <a:xfrm>
              <a:off x="6089040" y="4793760"/>
              <a:ext cx="2936520" cy="36468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23" name="object 6" descr=""/>
          <p:cNvPicPr/>
          <p:nvPr/>
        </p:nvPicPr>
        <p:blipFill>
          <a:blip r:embed="rId3"/>
          <a:stretch/>
        </p:blipFill>
        <p:spPr>
          <a:xfrm>
            <a:off x="7914240" y="8984520"/>
            <a:ext cx="4816800" cy="362880"/>
          </a:xfrm>
          <a:prstGeom prst="rect">
            <a:avLst/>
          </a:prstGeom>
          <a:ln w="0">
            <a:noFill/>
          </a:ln>
        </p:spPr>
      </p:pic>
      <p:sp>
        <p:nvSpPr>
          <p:cNvPr id="124" name="object 7"/>
          <p:cNvSpPr/>
          <p:nvPr/>
        </p:nvSpPr>
        <p:spPr>
          <a:xfrm>
            <a:off x="7883640" y="9470880"/>
            <a:ext cx="49222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33000"/>
              </a:lnSpc>
              <a:spcBef>
                <a:spcPts val="99"/>
              </a:spcBef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déзigne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l'utiliзatiоn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d'appareilз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соnneсtéз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fоurnir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зerviсeз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з'appuie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grande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variété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deз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25" name="object 8"/>
          <p:cNvGrpSpPr/>
          <p:nvPr/>
        </p:nvGrpSpPr>
        <p:grpSpPr>
          <a:xfrm>
            <a:off x="660600" y="771840"/>
            <a:ext cx="13448880" cy="1738080"/>
            <a:chOff x="660600" y="771840"/>
            <a:chExt cx="13448880" cy="1738080"/>
          </a:xfrm>
        </p:grpSpPr>
        <p:pic>
          <p:nvPicPr>
            <p:cNvPr id="126" name="object 9" descr=""/>
            <p:cNvPicPr/>
            <p:nvPr/>
          </p:nvPicPr>
          <p:blipFill>
            <a:blip r:embed="rId4"/>
            <a:stretch/>
          </p:blipFill>
          <p:spPr>
            <a:xfrm>
              <a:off x="2323440" y="1271880"/>
              <a:ext cx="1238040" cy="1238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7" name="object 10" descr=""/>
            <p:cNvPicPr/>
            <p:nvPr/>
          </p:nvPicPr>
          <p:blipFill>
            <a:blip r:embed="rId5"/>
            <a:stretch/>
          </p:blipFill>
          <p:spPr>
            <a:xfrm>
              <a:off x="4253760" y="1271880"/>
              <a:ext cx="1238040" cy="1238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8" name="object 11" descr=""/>
            <p:cNvPicPr/>
            <p:nvPr/>
          </p:nvPicPr>
          <p:blipFill>
            <a:blip r:embed="rId6"/>
            <a:stretch/>
          </p:blipFill>
          <p:spPr>
            <a:xfrm>
              <a:off x="6184440" y="1271880"/>
              <a:ext cx="1238040" cy="1238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9" name="object 12" descr=""/>
            <p:cNvPicPr/>
            <p:nvPr/>
          </p:nvPicPr>
          <p:blipFill>
            <a:blip r:embed="rId7"/>
            <a:stretch/>
          </p:blipFill>
          <p:spPr>
            <a:xfrm>
              <a:off x="8114760" y="1271880"/>
              <a:ext cx="1238040" cy="1238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0" name="object 13" descr=""/>
            <p:cNvPicPr/>
            <p:nvPr/>
          </p:nvPicPr>
          <p:blipFill>
            <a:blip r:embed="rId8"/>
            <a:stretch/>
          </p:blipFill>
          <p:spPr>
            <a:xfrm>
              <a:off x="10038600" y="1271880"/>
              <a:ext cx="1238040" cy="1238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31" name="object 14" descr=""/>
            <p:cNvPicPr/>
            <p:nvPr/>
          </p:nvPicPr>
          <p:blipFill>
            <a:blip r:embed="rId9"/>
            <a:stretch/>
          </p:blipFill>
          <p:spPr>
            <a:xfrm>
              <a:off x="11969280" y="1271880"/>
              <a:ext cx="1238040" cy="123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2" name="object 16"/>
            <p:cNvSpPr/>
            <p:nvPr/>
          </p:nvSpPr>
          <p:spPr>
            <a:xfrm>
              <a:off x="660600" y="136692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33" name="object 17" descr="">
              <a:hlinkClick r:id="rId10"/>
            </p:cNvPr>
            <p:cNvPicPr/>
            <p:nvPr/>
          </p:nvPicPr>
          <p:blipFill>
            <a:blip r:embed="rId11"/>
            <a:stretch/>
          </p:blipFill>
          <p:spPr>
            <a:xfrm>
              <a:off x="13041720" y="771840"/>
              <a:ext cx="333000" cy="3330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34" name="object 18" descr=""/>
          <p:cNvPicPr/>
          <p:nvPr/>
        </p:nvPicPr>
        <p:blipFill>
          <a:blip r:embed="rId12"/>
          <a:stretch/>
        </p:blipFill>
        <p:spPr>
          <a:xfrm>
            <a:off x="2231280" y="2686680"/>
            <a:ext cx="1023480" cy="313560"/>
          </a:xfrm>
          <a:prstGeom prst="rect">
            <a:avLst/>
          </a:prstGeom>
          <a:ln w="0">
            <a:noFill/>
          </a:ln>
        </p:spPr>
      </p:pic>
      <p:pic>
        <p:nvPicPr>
          <p:cNvPr id="135" name="object 19" descr=""/>
          <p:cNvPicPr/>
          <p:nvPr/>
        </p:nvPicPr>
        <p:blipFill>
          <a:blip r:embed="rId13"/>
          <a:stretch/>
        </p:blipFill>
        <p:spPr>
          <a:xfrm>
            <a:off x="3897000" y="2685240"/>
            <a:ext cx="1553040" cy="147600"/>
          </a:xfrm>
          <a:prstGeom prst="rect">
            <a:avLst/>
          </a:prstGeom>
          <a:ln w="0">
            <a:noFill/>
          </a:ln>
        </p:spPr>
      </p:pic>
      <p:pic>
        <p:nvPicPr>
          <p:cNvPr id="136" name="object 20" descr=""/>
          <p:cNvPicPr/>
          <p:nvPr/>
        </p:nvPicPr>
        <p:blipFill>
          <a:blip r:embed="rId14"/>
          <a:stretch/>
        </p:blipFill>
        <p:spPr>
          <a:xfrm>
            <a:off x="5958360" y="2686680"/>
            <a:ext cx="1291320" cy="146520"/>
          </a:xfrm>
          <a:prstGeom prst="rect">
            <a:avLst/>
          </a:prstGeom>
          <a:ln w="0">
            <a:noFill/>
          </a:ln>
        </p:spPr>
      </p:pic>
      <p:pic>
        <p:nvPicPr>
          <p:cNvPr id="137" name="object 21" descr=""/>
          <p:cNvPicPr/>
          <p:nvPr/>
        </p:nvPicPr>
        <p:blipFill>
          <a:blip r:embed="rId15"/>
          <a:stretch/>
        </p:blipFill>
        <p:spPr>
          <a:xfrm>
            <a:off x="7884000" y="2686680"/>
            <a:ext cx="1294920" cy="115200"/>
          </a:xfrm>
          <a:prstGeom prst="rect">
            <a:avLst/>
          </a:prstGeom>
          <a:ln w="0">
            <a:noFill/>
          </a:ln>
        </p:spPr>
      </p:pic>
      <p:pic>
        <p:nvPicPr>
          <p:cNvPr id="138" name="object 22" descr=""/>
          <p:cNvPicPr/>
          <p:nvPr/>
        </p:nvPicPr>
        <p:blipFill>
          <a:blip r:embed="rId16"/>
          <a:stretch/>
        </p:blipFill>
        <p:spPr>
          <a:xfrm>
            <a:off x="7871760" y="2884680"/>
            <a:ext cx="1321200" cy="146160"/>
          </a:xfrm>
          <a:prstGeom prst="rect">
            <a:avLst/>
          </a:prstGeom>
          <a:ln w="0">
            <a:noFill/>
          </a:ln>
        </p:spPr>
      </p:pic>
      <p:pic>
        <p:nvPicPr>
          <p:cNvPr id="139" name="object 23" descr=""/>
          <p:cNvPicPr/>
          <p:nvPr/>
        </p:nvPicPr>
        <p:blipFill>
          <a:blip r:embed="rId17"/>
          <a:stretch/>
        </p:blipFill>
        <p:spPr>
          <a:xfrm>
            <a:off x="9825480" y="2686680"/>
            <a:ext cx="1258560" cy="115200"/>
          </a:xfrm>
          <a:prstGeom prst="rect">
            <a:avLst/>
          </a:prstGeom>
          <a:ln w="0">
            <a:noFill/>
          </a:ln>
        </p:spPr>
      </p:pic>
      <p:sp>
        <p:nvSpPr>
          <p:cNvPr id="140" name="object 24"/>
          <p:cNvSpPr/>
          <p:nvPr/>
        </p:nvSpPr>
        <p:spPr>
          <a:xfrm>
            <a:off x="10264680" y="2883240"/>
            <a:ext cx="372960" cy="117000"/>
          </a:xfrm>
          <a:custGeom>
            <a:avLst/>
            <a:gdLst/>
            <a:ahLst/>
            <a:rect l="l" t="t" r="r" b="b"/>
            <a:pathLst>
              <a:path w="373379" h="117475">
                <a:moveTo>
                  <a:pt x="22225" y="115887"/>
                </a:moveTo>
                <a:lnTo>
                  <a:pt x="13296" y="115887"/>
                </a:lnTo>
                <a:lnTo>
                  <a:pt x="13296" y="20002"/>
                </a:lnTo>
                <a:lnTo>
                  <a:pt x="14099" y="15874"/>
                </a:lnTo>
                <a:lnTo>
                  <a:pt x="14185" y="15430"/>
                </a:lnTo>
                <a:lnTo>
                  <a:pt x="32194" y="0"/>
                </a:lnTo>
                <a:lnTo>
                  <a:pt x="38696" y="0"/>
                </a:lnTo>
                <a:lnTo>
                  <a:pt x="40284" y="152"/>
                </a:lnTo>
                <a:lnTo>
                  <a:pt x="41871" y="406"/>
                </a:lnTo>
                <a:lnTo>
                  <a:pt x="43459" y="546"/>
                </a:lnTo>
                <a:lnTo>
                  <a:pt x="45046" y="800"/>
                </a:lnTo>
                <a:lnTo>
                  <a:pt x="46634" y="1193"/>
                </a:lnTo>
                <a:lnTo>
                  <a:pt x="45923" y="7899"/>
                </a:lnTo>
                <a:lnTo>
                  <a:pt x="34683" y="7899"/>
                </a:lnTo>
                <a:lnTo>
                  <a:pt x="31750" y="8635"/>
                </a:lnTo>
                <a:lnTo>
                  <a:pt x="22225" y="21729"/>
                </a:lnTo>
                <a:lnTo>
                  <a:pt x="22225" y="115887"/>
                </a:lnTo>
                <a:close/>
              </a:path>
              <a:path w="373379" h="117475">
                <a:moveTo>
                  <a:pt x="45845" y="8635"/>
                </a:moveTo>
                <a:lnTo>
                  <a:pt x="45361" y="8635"/>
                </a:lnTo>
                <a:lnTo>
                  <a:pt x="44653" y="8483"/>
                </a:lnTo>
                <a:lnTo>
                  <a:pt x="43357" y="8293"/>
                </a:lnTo>
                <a:lnTo>
                  <a:pt x="43834" y="8293"/>
                </a:lnTo>
                <a:lnTo>
                  <a:pt x="39257" y="7899"/>
                </a:lnTo>
                <a:lnTo>
                  <a:pt x="45923" y="7899"/>
                </a:lnTo>
                <a:lnTo>
                  <a:pt x="45845" y="8635"/>
                </a:lnTo>
                <a:close/>
              </a:path>
              <a:path w="373379" h="117475">
                <a:moveTo>
                  <a:pt x="13296" y="42671"/>
                </a:moveTo>
                <a:lnTo>
                  <a:pt x="0" y="42671"/>
                </a:lnTo>
                <a:lnTo>
                  <a:pt x="0" y="35331"/>
                </a:lnTo>
                <a:lnTo>
                  <a:pt x="13296" y="35331"/>
                </a:lnTo>
                <a:lnTo>
                  <a:pt x="13296" y="42671"/>
                </a:lnTo>
                <a:close/>
              </a:path>
              <a:path w="373379" h="117475">
                <a:moveTo>
                  <a:pt x="41478" y="42671"/>
                </a:moveTo>
                <a:lnTo>
                  <a:pt x="22225" y="42671"/>
                </a:lnTo>
                <a:lnTo>
                  <a:pt x="22225" y="35331"/>
                </a:lnTo>
                <a:lnTo>
                  <a:pt x="41478" y="35331"/>
                </a:lnTo>
                <a:lnTo>
                  <a:pt x="41478" y="42671"/>
                </a:lnTo>
                <a:close/>
              </a:path>
              <a:path w="373379" h="117475">
                <a:moveTo>
                  <a:pt x="94005" y="117284"/>
                </a:moveTo>
                <a:lnTo>
                  <a:pt x="83045" y="117284"/>
                </a:lnTo>
                <a:lnTo>
                  <a:pt x="78079" y="116293"/>
                </a:lnTo>
                <a:lnTo>
                  <a:pt x="55167" y="93370"/>
                </a:lnTo>
                <a:lnTo>
                  <a:pt x="53327" y="88214"/>
                </a:lnTo>
                <a:lnTo>
                  <a:pt x="52489" y="82753"/>
                </a:lnTo>
                <a:lnTo>
                  <a:pt x="52489" y="68618"/>
                </a:lnTo>
                <a:lnTo>
                  <a:pt x="53327" y="63258"/>
                </a:lnTo>
                <a:lnTo>
                  <a:pt x="55067" y="58343"/>
                </a:lnTo>
                <a:lnTo>
                  <a:pt x="56756" y="53339"/>
                </a:lnTo>
                <a:lnTo>
                  <a:pt x="82943" y="33934"/>
                </a:lnTo>
                <a:lnTo>
                  <a:pt x="93814" y="33934"/>
                </a:lnTo>
                <a:lnTo>
                  <a:pt x="98717" y="34924"/>
                </a:lnTo>
                <a:lnTo>
                  <a:pt x="103085" y="36918"/>
                </a:lnTo>
                <a:lnTo>
                  <a:pt x="107556" y="38900"/>
                </a:lnTo>
                <a:lnTo>
                  <a:pt x="111024" y="41478"/>
                </a:lnTo>
                <a:lnTo>
                  <a:pt x="84035" y="41478"/>
                </a:lnTo>
                <a:lnTo>
                  <a:pt x="80124" y="42417"/>
                </a:lnTo>
                <a:lnTo>
                  <a:pt x="76695" y="44259"/>
                </a:lnTo>
                <a:lnTo>
                  <a:pt x="73367" y="45999"/>
                </a:lnTo>
                <a:lnTo>
                  <a:pt x="70599" y="48425"/>
                </a:lnTo>
                <a:lnTo>
                  <a:pt x="68364" y="51600"/>
                </a:lnTo>
                <a:lnTo>
                  <a:pt x="66078" y="54673"/>
                </a:lnTo>
                <a:lnTo>
                  <a:pt x="64389" y="58153"/>
                </a:lnTo>
                <a:lnTo>
                  <a:pt x="63207" y="62115"/>
                </a:lnTo>
                <a:lnTo>
                  <a:pt x="62014" y="65989"/>
                </a:lnTo>
                <a:lnTo>
                  <a:pt x="61417" y="70053"/>
                </a:lnTo>
                <a:lnTo>
                  <a:pt x="61417" y="81318"/>
                </a:lnTo>
                <a:lnTo>
                  <a:pt x="62014" y="85534"/>
                </a:lnTo>
                <a:lnTo>
                  <a:pt x="64300" y="93078"/>
                </a:lnTo>
                <a:lnTo>
                  <a:pt x="64389" y="93370"/>
                </a:lnTo>
                <a:lnTo>
                  <a:pt x="66078" y="96799"/>
                </a:lnTo>
                <a:lnTo>
                  <a:pt x="68364" y="99821"/>
                </a:lnTo>
                <a:lnTo>
                  <a:pt x="70599" y="102895"/>
                </a:lnTo>
                <a:lnTo>
                  <a:pt x="73367" y="105321"/>
                </a:lnTo>
                <a:lnTo>
                  <a:pt x="76695" y="107162"/>
                </a:lnTo>
                <a:lnTo>
                  <a:pt x="80124" y="108902"/>
                </a:lnTo>
                <a:lnTo>
                  <a:pt x="84086" y="109740"/>
                </a:lnTo>
                <a:lnTo>
                  <a:pt x="111142" y="109740"/>
                </a:lnTo>
                <a:lnTo>
                  <a:pt x="107657" y="112318"/>
                </a:lnTo>
                <a:lnTo>
                  <a:pt x="98920" y="116293"/>
                </a:lnTo>
                <a:lnTo>
                  <a:pt x="94005" y="117284"/>
                </a:lnTo>
                <a:close/>
              </a:path>
              <a:path w="373379" h="117475">
                <a:moveTo>
                  <a:pt x="111142" y="109740"/>
                </a:moveTo>
                <a:lnTo>
                  <a:pt x="92824" y="109740"/>
                </a:lnTo>
                <a:lnTo>
                  <a:pt x="96583" y="108902"/>
                </a:lnTo>
                <a:lnTo>
                  <a:pt x="99910" y="107162"/>
                </a:lnTo>
                <a:lnTo>
                  <a:pt x="103339" y="105321"/>
                </a:lnTo>
                <a:lnTo>
                  <a:pt x="106159" y="102895"/>
                </a:lnTo>
                <a:lnTo>
                  <a:pt x="108445" y="99821"/>
                </a:lnTo>
                <a:lnTo>
                  <a:pt x="110832" y="96799"/>
                </a:lnTo>
                <a:lnTo>
                  <a:pt x="112509" y="93370"/>
                </a:lnTo>
                <a:lnTo>
                  <a:pt x="113601" y="89496"/>
                </a:lnTo>
                <a:lnTo>
                  <a:pt x="114795" y="85534"/>
                </a:lnTo>
                <a:lnTo>
                  <a:pt x="115392" y="81318"/>
                </a:lnTo>
                <a:lnTo>
                  <a:pt x="115392" y="70053"/>
                </a:lnTo>
                <a:lnTo>
                  <a:pt x="114795" y="65989"/>
                </a:lnTo>
                <a:lnTo>
                  <a:pt x="113601" y="62115"/>
                </a:lnTo>
                <a:lnTo>
                  <a:pt x="112561" y="58343"/>
                </a:lnTo>
                <a:lnTo>
                  <a:pt x="112509" y="58153"/>
                </a:lnTo>
                <a:lnTo>
                  <a:pt x="110832" y="54673"/>
                </a:lnTo>
                <a:lnTo>
                  <a:pt x="108445" y="51600"/>
                </a:lnTo>
                <a:lnTo>
                  <a:pt x="106159" y="48425"/>
                </a:lnTo>
                <a:lnTo>
                  <a:pt x="103339" y="45999"/>
                </a:lnTo>
                <a:lnTo>
                  <a:pt x="99910" y="44259"/>
                </a:lnTo>
                <a:lnTo>
                  <a:pt x="96583" y="42417"/>
                </a:lnTo>
                <a:lnTo>
                  <a:pt x="92773" y="41478"/>
                </a:lnTo>
                <a:lnTo>
                  <a:pt x="111024" y="41478"/>
                </a:lnTo>
                <a:lnTo>
                  <a:pt x="111417" y="41770"/>
                </a:lnTo>
                <a:lnTo>
                  <a:pt x="114592" y="45453"/>
                </a:lnTo>
                <a:lnTo>
                  <a:pt x="117767" y="49021"/>
                </a:lnTo>
                <a:lnTo>
                  <a:pt x="120154" y="53339"/>
                </a:lnTo>
                <a:lnTo>
                  <a:pt x="121681" y="58153"/>
                </a:lnTo>
                <a:lnTo>
                  <a:pt x="123431" y="63258"/>
                </a:lnTo>
                <a:lnTo>
                  <a:pt x="124320" y="68618"/>
                </a:lnTo>
                <a:lnTo>
                  <a:pt x="124320" y="82753"/>
                </a:lnTo>
                <a:lnTo>
                  <a:pt x="123431" y="88214"/>
                </a:lnTo>
                <a:lnTo>
                  <a:pt x="121742" y="93078"/>
                </a:lnTo>
                <a:lnTo>
                  <a:pt x="120154" y="97980"/>
                </a:lnTo>
                <a:lnTo>
                  <a:pt x="117767" y="102298"/>
                </a:lnTo>
                <a:lnTo>
                  <a:pt x="114592" y="105968"/>
                </a:lnTo>
                <a:lnTo>
                  <a:pt x="111417" y="109537"/>
                </a:lnTo>
                <a:lnTo>
                  <a:pt x="111142" y="109740"/>
                </a:lnTo>
                <a:close/>
              </a:path>
              <a:path w="373379" h="117475">
                <a:moveTo>
                  <a:pt x="174574" y="117284"/>
                </a:moveTo>
                <a:lnTo>
                  <a:pt x="165049" y="117284"/>
                </a:lnTo>
                <a:lnTo>
                  <a:pt x="161378" y="116738"/>
                </a:lnTo>
                <a:lnTo>
                  <a:pt x="143087" y="97243"/>
                </a:lnTo>
                <a:lnTo>
                  <a:pt x="143027" y="97040"/>
                </a:lnTo>
                <a:lnTo>
                  <a:pt x="142553" y="93342"/>
                </a:lnTo>
                <a:lnTo>
                  <a:pt x="142430" y="35331"/>
                </a:lnTo>
                <a:lnTo>
                  <a:pt x="151358" y="35331"/>
                </a:lnTo>
                <a:lnTo>
                  <a:pt x="151481" y="92379"/>
                </a:lnTo>
                <a:lnTo>
                  <a:pt x="151803" y="94957"/>
                </a:lnTo>
                <a:lnTo>
                  <a:pt x="156908" y="104774"/>
                </a:lnTo>
                <a:lnTo>
                  <a:pt x="158597" y="106514"/>
                </a:lnTo>
                <a:lnTo>
                  <a:pt x="160540" y="107759"/>
                </a:lnTo>
                <a:lnTo>
                  <a:pt x="162674" y="108546"/>
                </a:lnTo>
                <a:lnTo>
                  <a:pt x="164896" y="109245"/>
                </a:lnTo>
                <a:lnTo>
                  <a:pt x="167335" y="109537"/>
                </a:lnTo>
                <a:lnTo>
                  <a:pt x="191501" y="109537"/>
                </a:lnTo>
                <a:lnTo>
                  <a:pt x="190703" y="110540"/>
                </a:lnTo>
                <a:lnTo>
                  <a:pt x="187375" y="113017"/>
                </a:lnTo>
                <a:lnTo>
                  <a:pt x="179336" y="116395"/>
                </a:lnTo>
                <a:lnTo>
                  <a:pt x="174574" y="117284"/>
                </a:lnTo>
                <a:close/>
              </a:path>
              <a:path w="373379" h="117475">
                <a:moveTo>
                  <a:pt x="194424" y="93342"/>
                </a:moveTo>
                <a:lnTo>
                  <a:pt x="194424" y="35331"/>
                </a:lnTo>
                <a:lnTo>
                  <a:pt x="203352" y="35331"/>
                </a:lnTo>
                <a:lnTo>
                  <a:pt x="203352" y="82156"/>
                </a:lnTo>
                <a:lnTo>
                  <a:pt x="200571" y="82156"/>
                </a:lnTo>
                <a:lnTo>
                  <a:pt x="196011" y="82359"/>
                </a:lnTo>
                <a:lnTo>
                  <a:pt x="195973" y="87312"/>
                </a:lnTo>
                <a:lnTo>
                  <a:pt x="195158" y="91389"/>
                </a:lnTo>
                <a:lnTo>
                  <a:pt x="195110" y="91630"/>
                </a:lnTo>
                <a:lnTo>
                  <a:pt x="194424" y="93342"/>
                </a:lnTo>
                <a:close/>
              </a:path>
              <a:path w="373379" h="117475">
                <a:moveTo>
                  <a:pt x="194510" y="105724"/>
                </a:moveTo>
                <a:lnTo>
                  <a:pt x="194424" y="93342"/>
                </a:lnTo>
                <a:lnTo>
                  <a:pt x="195110" y="91630"/>
                </a:lnTo>
                <a:lnTo>
                  <a:pt x="195973" y="87312"/>
                </a:lnTo>
                <a:lnTo>
                  <a:pt x="196011" y="82359"/>
                </a:lnTo>
                <a:lnTo>
                  <a:pt x="200571" y="82156"/>
                </a:lnTo>
                <a:lnTo>
                  <a:pt x="200571" y="87312"/>
                </a:lnTo>
                <a:lnTo>
                  <a:pt x="200056" y="91389"/>
                </a:lnTo>
                <a:lnTo>
                  <a:pt x="199974" y="92036"/>
                </a:lnTo>
                <a:lnTo>
                  <a:pt x="197599" y="100520"/>
                </a:lnTo>
                <a:lnTo>
                  <a:pt x="195706" y="104190"/>
                </a:lnTo>
                <a:lnTo>
                  <a:pt x="194510" y="105724"/>
                </a:lnTo>
                <a:close/>
              </a:path>
              <a:path w="373379" h="117475">
                <a:moveTo>
                  <a:pt x="203352" y="115887"/>
                </a:moveTo>
                <a:lnTo>
                  <a:pt x="194614" y="115887"/>
                </a:lnTo>
                <a:lnTo>
                  <a:pt x="194510" y="105724"/>
                </a:lnTo>
                <a:lnTo>
                  <a:pt x="195706" y="104190"/>
                </a:lnTo>
                <a:lnTo>
                  <a:pt x="197474" y="100761"/>
                </a:lnTo>
                <a:lnTo>
                  <a:pt x="197599" y="100520"/>
                </a:lnTo>
                <a:lnTo>
                  <a:pt x="199877" y="92379"/>
                </a:lnTo>
                <a:lnTo>
                  <a:pt x="199974" y="92036"/>
                </a:lnTo>
                <a:lnTo>
                  <a:pt x="200571" y="87312"/>
                </a:lnTo>
                <a:lnTo>
                  <a:pt x="200571" y="82156"/>
                </a:lnTo>
                <a:lnTo>
                  <a:pt x="203352" y="82156"/>
                </a:lnTo>
                <a:lnTo>
                  <a:pt x="203352" y="115887"/>
                </a:lnTo>
                <a:close/>
              </a:path>
              <a:path w="373379" h="117475">
                <a:moveTo>
                  <a:pt x="191501" y="109537"/>
                </a:moveTo>
                <a:lnTo>
                  <a:pt x="176466" y="109537"/>
                </a:lnTo>
                <a:lnTo>
                  <a:pt x="181571" y="108305"/>
                </a:lnTo>
                <a:lnTo>
                  <a:pt x="185376" y="105724"/>
                </a:lnTo>
                <a:lnTo>
                  <a:pt x="189115" y="103289"/>
                </a:lnTo>
                <a:lnTo>
                  <a:pt x="191833" y="99974"/>
                </a:lnTo>
                <a:lnTo>
                  <a:pt x="193421" y="95846"/>
                </a:lnTo>
                <a:lnTo>
                  <a:pt x="194424" y="93342"/>
                </a:lnTo>
                <a:lnTo>
                  <a:pt x="194510" y="105724"/>
                </a:lnTo>
                <a:lnTo>
                  <a:pt x="191501" y="109537"/>
                </a:lnTo>
                <a:close/>
              </a:path>
              <a:path w="373379" h="117475">
                <a:moveTo>
                  <a:pt x="235445" y="59953"/>
                </a:moveTo>
                <a:lnTo>
                  <a:pt x="253301" y="33934"/>
                </a:lnTo>
                <a:lnTo>
                  <a:pt x="259105" y="33934"/>
                </a:lnTo>
                <a:lnTo>
                  <a:pt x="260146" y="34086"/>
                </a:lnTo>
                <a:lnTo>
                  <a:pt x="261239" y="34340"/>
                </a:lnTo>
                <a:lnTo>
                  <a:pt x="262432" y="34480"/>
                </a:lnTo>
                <a:lnTo>
                  <a:pt x="263271" y="34632"/>
                </a:lnTo>
                <a:lnTo>
                  <a:pt x="263819" y="34632"/>
                </a:lnTo>
                <a:lnTo>
                  <a:pt x="263728" y="38595"/>
                </a:lnTo>
                <a:lnTo>
                  <a:pt x="263640" y="42468"/>
                </a:lnTo>
                <a:lnTo>
                  <a:pt x="253796" y="42468"/>
                </a:lnTo>
                <a:lnTo>
                  <a:pt x="250431" y="43218"/>
                </a:lnTo>
                <a:lnTo>
                  <a:pt x="247548" y="44653"/>
                </a:lnTo>
                <a:lnTo>
                  <a:pt x="244627" y="45999"/>
                </a:lnTo>
                <a:lnTo>
                  <a:pt x="242189" y="47929"/>
                </a:lnTo>
                <a:lnTo>
                  <a:pt x="240207" y="50406"/>
                </a:lnTo>
                <a:lnTo>
                  <a:pt x="238226" y="52933"/>
                </a:lnTo>
                <a:lnTo>
                  <a:pt x="236689" y="55918"/>
                </a:lnTo>
                <a:lnTo>
                  <a:pt x="235445" y="59953"/>
                </a:lnTo>
                <a:close/>
              </a:path>
              <a:path w="373379" h="117475">
                <a:moveTo>
                  <a:pt x="235445" y="115887"/>
                </a:moveTo>
                <a:lnTo>
                  <a:pt x="226517" y="115887"/>
                </a:lnTo>
                <a:lnTo>
                  <a:pt x="226517" y="35331"/>
                </a:lnTo>
                <a:lnTo>
                  <a:pt x="235242" y="35331"/>
                </a:lnTo>
                <a:lnTo>
                  <a:pt x="235362" y="43218"/>
                </a:lnTo>
                <a:lnTo>
                  <a:pt x="235426" y="47392"/>
                </a:lnTo>
                <a:lnTo>
                  <a:pt x="235074" y="47929"/>
                </a:lnTo>
                <a:lnTo>
                  <a:pt x="234950" y="48120"/>
                </a:lnTo>
                <a:lnTo>
                  <a:pt x="233311" y="52095"/>
                </a:lnTo>
                <a:lnTo>
                  <a:pt x="232270" y="56565"/>
                </a:lnTo>
                <a:lnTo>
                  <a:pt x="231178" y="61074"/>
                </a:lnTo>
                <a:lnTo>
                  <a:pt x="230682" y="65989"/>
                </a:lnTo>
                <a:lnTo>
                  <a:pt x="230682" y="71246"/>
                </a:lnTo>
                <a:lnTo>
                  <a:pt x="235445" y="71246"/>
                </a:lnTo>
                <a:lnTo>
                  <a:pt x="235445" y="115887"/>
                </a:lnTo>
                <a:close/>
              </a:path>
              <a:path w="373379" h="117475">
                <a:moveTo>
                  <a:pt x="264655" y="42824"/>
                </a:moveTo>
                <a:lnTo>
                  <a:pt x="263632" y="42824"/>
                </a:lnTo>
                <a:lnTo>
                  <a:pt x="263640" y="42468"/>
                </a:lnTo>
                <a:lnTo>
                  <a:pt x="257721" y="42468"/>
                </a:lnTo>
                <a:lnTo>
                  <a:pt x="264655" y="42824"/>
                </a:lnTo>
                <a:close/>
              </a:path>
              <a:path w="373379" h="117475">
                <a:moveTo>
                  <a:pt x="263626" y="43065"/>
                </a:moveTo>
                <a:lnTo>
                  <a:pt x="262686" y="42824"/>
                </a:lnTo>
                <a:lnTo>
                  <a:pt x="263632" y="42824"/>
                </a:lnTo>
                <a:lnTo>
                  <a:pt x="263626" y="43065"/>
                </a:lnTo>
                <a:close/>
              </a:path>
              <a:path w="373379" h="117475">
                <a:moveTo>
                  <a:pt x="230682" y="71246"/>
                </a:moveTo>
                <a:lnTo>
                  <a:pt x="230682" y="65989"/>
                </a:lnTo>
                <a:lnTo>
                  <a:pt x="231178" y="61074"/>
                </a:lnTo>
                <a:lnTo>
                  <a:pt x="232270" y="56565"/>
                </a:lnTo>
                <a:lnTo>
                  <a:pt x="233311" y="52095"/>
                </a:lnTo>
                <a:lnTo>
                  <a:pt x="234950" y="48120"/>
                </a:lnTo>
                <a:lnTo>
                  <a:pt x="235426" y="47392"/>
                </a:lnTo>
                <a:lnTo>
                  <a:pt x="235445" y="59953"/>
                </a:lnTo>
                <a:lnTo>
                  <a:pt x="234556" y="62661"/>
                </a:lnTo>
                <a:lnTo>
                  <a:pt x="233999" y="65989"/>
                </a:lnTo>
                <a:lnTo>
                  <a:pt x="233959" y="66230"/>
                </a:lnTo>
                <a:lnTo>
                  <a:pt x="233857" y="70053"/>
                </a:lnTo>
                <a:lnTo>
                  <a:pt x="230682" y="71246"/>
                </a:lnTo>
                <a:close/>
              </a:path>
              <a:path w="373379" h="117475">
                <a:moveTo>
                  <a:pt x="235445" y="71246"/>
                </a:moveTo>
                <a:lnTo>
                  <a:pt x="230682" y="71246"/>
                </a:lnTo>
                <a:lnTo>
                  <a:pt x="233857" y="70053"/>
                </a:lnTo>
                <a:lnTo>
                  <a:pt x="233959" y="66230"/>
                </a:lnTo>
                <a:lnTo>
                  <a:pt x="234556" y="62661"/>
                </a:lnTo>
                <a:lnTo>
                  <a:pt x="235445" y="59953"/>
                </a:lnTo>
                <a:lnTo>
                  <a:pt x="235445" y="71246"/>
                </a:lnTo>
                <a:close/>
              </a:path>
              <a:path w="373379" h="117475">
                <a:moveTo>
                  <a:pt x="286689" y="59994"/>
                </a:moveTo>
                <a:lnTo>
                  <a:pt x="300199" y="36614"/>
                </a:lnTo>
                <a:lnTo>
                  <a:pt x="303809" y="34886"/>
                </a:lnTo>
                <a:lnTo>
                  <a:pt x="308025" y="33934"/>
                </a:lnTo>
                <a:lnTo>
                  <a:pt x="316750" y="33934"/>
                </a:lnTo>
                <a:lnTo>
                  <a:pt x="331533" y="40690"/>
                </a:lnTo>
                <a:lnTo>
                  <a:pt x="332465" y="41681"/>
                </a:lnTo>
                <a:lnTo>
                  <a:pt x="306235" y="41681"/>
                </a:lnTo>
                <a:lnTo>
                  <a:pt x="302564" y="42621"/>
                </a:lnTo>
                <a:lnTo>
                  <a:pt x="287489" y="57696"/>
                </a:lnTo>
                <a:lnTo>
                  <a:pt x="286689" y="59994"/>
                </a:lnTo>
                <a:close/>
              </a:path>
              <a:path w="373379" h="117475">
                <a:moveTo>
                  <a:pt x="286689" y="115887"/>
                </a:moveTo>
                <a:lnTo>
                  <a:pt x="277761" y="115887"/>
                </a:lnTo>
                <a:lnTo>
                  <a:pt x="277761" y="35331"/>
                </a:lnTo>
                <a:lnTo>
                  <a:pt x="286296" y="35331"/>
                </a:lnTo>
                <a:lnTo>
                  <a:pt x="286422" y="40881"/>
                </a:lnTo>
                <a:lnTo>
                  <a:pt x="286547" y="46342"/>
                </a:lnTo>
                <a:lnTo>
                  <a:pt x="286600" y="48678"/>
                </a:lnTo>
                <a:lnTo>
                  <a:pt x="280733" y="68465"/>
                </a:lnTo>
                <a:lnTo>
                  <a:pt x="284708" y="70650"/>
                </a:lnTo>
                <a:lnTo>
                  <a:pt x="286689" y="70650"/>
                </a:lnTo>
                <a:lnTo>
                  <a:pt x="286689" y="115887"/>
                </a:lnTo>
                <a:close/>
              </a:path>
              <a:path w="373379" h="117475">
                <a:moveTo>
                  <a:pt x="338480" y="115887"/>
                </a:moveTo>
                <a:lnTo>
                  <a:pt x="329552" y="115887"/>
                </a:lnTo>
                <a:lnTo>
                  <a:pt x="329515" y="57696"/>
                </a:lnTo>
                <a:lnTo>
                  <a:pt x="328739" y="53530"/>
                </a:lnTo>
                <a:lnTo>
                  <a:pt x="314477" y="41681"/>
                </a:lnTo>
                <a:lnTo>
                  <a:pt x="332465" y="41681"/>
                </a:lnTo>
                <a:lnTo>
                  <a:pt x="338427" y="57696"/>
                </a:lnTo>
                <a:lnTo>
                  <a:pt x="338480" y="115887"/>
                </a:lnTo>
                <a:close/>
              </a:path>
              <a:path w="373379" h="117475">
                <a:moveTo>
                  <a:pt x="284708" y="70650"/>
                </a:moveTo>
                <a:lnTo>
                  <a:pt x="280733" y="68465"/>
                </a:lnTo>
                <a:lnTo>
                  <a:pt x="280947" y="64452"/>
                </a:lnTo>
                <a:lnTo>
                  <a:pt x="280987" y="63703"/>
                </a:lnTo>
                <a:lnTo>
                  <a:pt x="281927" y="59283"/>
                </a:lnTo>
                <a:lnTo>
                  <a:pt x="283514" y="55168"/>
                </a:lnTo>
                <a:lnTo>
                  <a:pt x="285203" y="50952"/>
                </a:lnTo>
                <a:lnTo>
                  <a:pt x="286600" y="48678"/>
                </a:lnTo>
                <a:lnTo>
                  <a:pt x="286689" y="59994"/>
                </a:lnTo>
                <a:lnTo>
                  <a:pt x="286296" y="61125"/>
                </a:lnTo>
                <a:lnTo>
                  <a:pt x="285203" y="64452"/>
                </a:lnTo>
                <a:lnTo>
                  <a:pt x="284708" y="67627"/>
                </a:lnTo>
                <a:lnTo>
                  <a:pt x="284708" y="70650"/>
                </a:lnTo>
                <a:close/>
              </a:path>
              <a:path w="373379" h="117475">
                <a:moveTo>
                  <a:pt x="286689" y="70650"/>
                </a:moveTo>
                <a:lnTo>
                  <a:pt x="284708" y="70650"/>
                </a:lnTo>
                <a:lnTo>
                  <a:pt x="284708" y="67627"/>
                </a:lnTo>
                <a:lnTo>
                  <a:pt x="285203" y="64452"/>
                </a:lnTo>
                <a:lnTo>
                  <a:pt x="286296" y="61125"/>
                </a:lnTo>
                <a:lnTo>
                  <a:pt x="286689" y="59994"/>
                </a:lnTo>
                <a:lnTo>
                  <a:pt x="286689" y="70650"/>
                </a:lnTo>
                <a:close/>
              </a:path>
              <a:path w="373379" h="117475">
                <a:moveTo>
                  <a:pt x="371525" y="115887"/>
                </a:moveTo>
                <a:lnTo>
                  <a:pt x="362597" y="115887"/>
                </a:lnTo>
                <a:lnTo>
                  <a:pt x="362597" y="35331"/>
                </a:lnTo>
                <a:lnTo>
                  <a:pt x="371525" y="35331"/>
                </a:lnTo>
                <a:lnTo>
                  <a:pt x="371525" y="115887"/>
                </a:lnTo>
                <a:close/>
              </a:path>
              <a:path w="373379" h="117475">
                <a:moveTo>
                  <a:pt x="368998" y="18059"/>
                </a:moveTo>
                <a:lnTo>
                  <a:pt x="365175" y="18059"/>
                </a:lnTo>
                <a:lnTo>
                  <a:pt x="363639" y="17462"/>
                </a:lnTo>
                <a:lnTo>
                  <a:pt x="362597" y="16281"/>
                </a:lnTo>
                <a:lnTo>
                  <a:pt x="361505" y="15087"/>
                </a:lnTo>
                <a:lnTo>
                  <a:pt x="361010" y="13703"/>
                </a:lnTo>
                <a:lnTo>
                  <a:pt x="361010" y="10426"/>
                </a:lnTo>
                <a:lnTo>
                  <a:pt x="361505" y="8940"/>
                </a:lnTo>
                <a:lnTo>
                  <a:pt x="362597" y="7746"/>
                </a:lnTo>
                <a:lnTo>
                  <a:pt x="363639" y="6553"/>
                </a:lnTo>
                <a:lnTo>
                  <a:pt x="365175" y="5956"/>
                </a:lnTo>
                <a:lnTo>
                  <a:pt x="368998" y="5956"/>
                </a:lnTo>
                <a:lnTo>
                  <a:pt x="370433" y="6553"/>
                </a:lnTo>
                <a:lnTo>
                  <a:pt x="371525" y="7746"/>
                </a:lnTo>
                <a:lnTo>
                  <a:pt x="372719" y="8940"/>
                </a:lnTo>
                <a:lnTo>
                  <a:pt x="373316" y="10426"/>
                </a:lnTo>
                <a:lnTo>
                  <a:pt x="373316" y="13703"/>
                </a:lnTo>
                <a:lnTo>
                  <a:pt x="372719" y="15087"/>
                </a:lnTo>
                <a:lnTo>
                  <a:pt x="371525" y="16281"/>
                </a:lnTo>
                <a:lnTo>
                  <a:pt x="370433" y="17462"/>
                </a:lnTo>
                <a:lnTo>
                  <a:pt x="368998" y="1805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1" name="object 25" descr=""/>
          <p:cNvPicPr/>
          <p:nvPr/>
        </p:nvPicPr>
        <p:blipFill>
          <a:blip r:embed="rId18"/>
          <a:stretch/>
        </p:blipFill>
        <p:spPr>
          <a:xfrm>
            <a:off x="11883960" y="2686680"/>
            <a:ext cx="1009440" cy="146160"/>
          </a:xfrm>
          <a:prstGeom prst="rect">
            <a:avLst/>
          </a:prstGeom>
          <a:ln w="0">
            <a:noFill/>
          </a:ln>
        </p:spPr>
      </p:pic>
      <p:pic>
        <p:nvPicPr>
          <p:cNvPr id="142" name="object 26" descr=""/>
          <p:cNvPicPr/>
          <p:nvPr/>
        </p:nvPicPr>
        <p:blipFill>
          <a:blip r:embed="rId19"/>
          <a:stretch/>
        </p:blipFill>
        <p:spPr>
          <a:xfrm>
            <a:off x="11636280" y="2884680"/>
            <a:ext cx="1499040" cy="11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object 2" descr=""/>
          <p:cNvPicPr/>
          <p:nvPr/>
        </p:nvPicPr>
        <p:blipFill>
          <a:blip r:embed="rId1"/>
          <a:stretch/>
        </p:blipFill>
        <p:spPr>
          <a:xfrm>
            <a:off x="1866960" y="457200"/>
            <a:ext cx="5676480" cy="3685680"/>
          </a:xfrm>
          <a:prstGeom prst="rect">
            <a:avLst/>
          </a:prstGeom>
          <a:ln w="0">
            <a:noFill/>
          </a:ln>
        </p:spPr>
      </p:pic>
      <p:sp>
        <p:nvSpPr>
          <p:cNvPr id="144" name="object 3"/>
          <p:cNvSpPr/>
          <p:nvPr/>
        </p:nvSpPr>
        <p:spPr>
          <a:xfrm>
            <a:off x="7896240" y="491760"/>
            <a:ext cx="5360400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ts val="1355"/>
              </a:lnSpc>
              <a:buNone/>
            </a:pP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appliсatiоnз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сapteurз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2"/>
              </a:rPr>
              <a:t>à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3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4"/>
              </a:rPr>
              <a:t>l'IA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5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6"/>
              </a:rPr>
              <a:t>et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7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8"/>
              </a:rPr>
              <a:t>à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9"/>
              </a:rPr>
              <a:t> </a:t>
            </a:r>
            <a:r>
              <a:rPr b="0" lang="fr-FR" sz="1200" spc="-21" strike="noStrike" u="sng">
                <a:solidFill>
                  <a:srgbClr val="0000ff"/>
                </a:solidFill>
                <a:uFillTx/>
                <a:latin typeface="Roboto"/>
                <a:hlinkClick r:id="rId10"/>
              </a:rPr>
              <a:t>l'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apprentiззage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aut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1"/>
              </a:rPr>
              <a:t>оmatique,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12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3"/>
              </a:rPr>
              <a:t>qui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permettent</a:t>
            </a:r>
            <a:endParaRPr b="0" lang="fr-FR" sz="1200" spc="-1" strike="noStrike">
              <a:latin typeface="Arial"/>
            </a:endParaRPr>
          </a:p>
          <a:p>
            <a:pPr algn="just">
              <a:lnSpc>
                <a:spcPct val="133000"/>
              </a:lnSpc>
              <a:buNone/>
            </a:pP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d'adapter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radiсalement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4"/>
              </a:rPr>
              <a:t>leз</a:t>
            </a:r>
            <a:r>
              <a:rPr b="0" lang="fr-FR" sz="1200" spc="-32" strike="noStrike" u="sng">
                <a:solidFill>
                  <a:srgbClr val="0000ff"/>
                </a:solidFill>
                <a:uFillTx/>
                <a:latin typeface="Roboto"/>
                <a:hlinkClick r:id="rId15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6"/>
              </a:rPr>
              <a:t>pratiqueз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соnv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7"/>
              </a:rPr>
              <a:t>entiоnnelleз.</a:t>
            </a:r>
            <a:r>
              <a:rPr b="0" lang="fr-FR" sz="1200" spc="-32" strike="noStrike" u="sng">
                <a:solidFill>
                  <a:srgbClr val="0000ff"/>
                </a:solidFill>
                <a:uFillTx/>
                <a:latin typeface="Roboto"/>
                <a:hlinkClick r:id="rId18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9"/>
              </a:rPr>
              <a:t>Il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permiз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20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соnсrétiзer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1"/>
              </a:rPr>
              <a:t>оjetз</a:t>
            </a:r>
            <a:r>
              <a:rPr b="0" lang="fr-FR" sz="1200" spc="-46" strike="noStrike" u="sng">
                <a:solidFill>
                  <a:srgbClr val="0000ff"/>
                </a:solidFill>
                <a:uFillTx/>
                <a:latin typeface="Roboto"/>
                <a:hlinkClick r:id="rId22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23"/>
              </a:rPr>
              <a:t>médiсaux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baзéз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l'IоT,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qui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4"/>
              </a:rPr>
              <a:t>зemblaient</a:t>
            </a:r>
            <a:r>
              <a:rPr b="0" lang="fr-FR" sz="1200" spc="-46" strike="noStrike" u="sng">
                <a:solidFill>
                  <a:srgbClr val="0000ff"/>
                </a:solidFill>
                <a:uFillTx/>
                <a:latin typeface="Roboto"/>
                <a:hlinkClick r:id="rId25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6"/>
              </a:rPr>
              <a:t>rele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ver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rêve,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nоtamment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diagnозtiс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avanсé,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зurveillanсe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tempз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réel,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la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45" name="object 4"/>
          <p:cNvSpPr/>
          <p:nvPr/>
        </p:nvSpPr>
        <p:spPr>
          <a:xfrm>
            <a:off x="7920000" y="1980000"/>
            <a:ext cx="5338800" cy="17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3800" bIns="0" anchor="t">
            <a:spAutoFit/>
          </a:bodyPr>
          <a:p>
            <a:pPr marL="12600">
              <a:lnSpc>
                <a:spcPct val="100000"/>
              </a:lnSpc>
              <a:spcBef>
                <a:spcPts val="581"/>
              </a:spcBef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сhirurgie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rоbоtique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téléзurveillanсe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médiсale.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33000"/>
              </a:lnSpc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Elle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également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faсilité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l'aссèз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зоinз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mettant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diзpозitiоn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intelligentз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permettant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зurveiller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eux-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mêmeз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зignaler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prоblème.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impоrtant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enсоre,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elle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jоué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un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rôle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majur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dévelоppement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télémédeсine,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nоtamment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périоde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reзtriсtiоnз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préзenсe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phyзique,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соmme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périоde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pandémie.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46" name="object 5"/>
          <p:cNvGrpSpPr/>
          <p:nvPr/>
        </p:nvGrpSpPr>
        <p:grpSpPr>
          <a:xfrm>
            <a:off x="457200" y="4427280"/>
            <a:ext cx="14211000" cy="5808600"/>
            <a:chOff x="457200" y="4427280"/>
            <a:chExt cx="14211000" cy="5808600"/>
          </a:xfrm>
        </p:grpSpPr>
        <p:sp>
          <p:nvSpPr>
            <p:cNvPr id="147" name="object 6"/>
            <p:cNvSpPr/>
            <p:nvPr/>
          </p:nvSpPr>
          <p:spPr>
            <a:xfrm>
              <a:off x="457200" y="4427280"/>
              <a:ext cx="14211000" cy="5808600"/>
            </a:xfrm>
            <a:custGeom>
              <a:avLst/>
              <a:gdLst/>
              <a:ahLst/>
              <a:rect l="l" t="t" r="r" b="b"/>
              <a:pathLst>
                <a:path w="14211300" h="5808980">
                  <a:moveTo>
                    <a:pt x="14211300" y="5808954"/>
                  </a:moveTo>
                  <a:lnTo>
                    <a:pt x="0" y="5808954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5808954"/>
                  </a:lnTo>
                  <a:close/>
                </a:path>
              </a:pathLst>
            </a:custGeom>
            <a:solidFill>
              <a:srgbClr val="e6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48" name="object 7" descr=""/>
            <p:cNvPicPr/>
            <p:nvPr/>
          </p:nvPicPr>
          <p:blipFill>
            <a:blip r:embed="rId27"/>
            <a:stretch/>
          </p:blipFill>
          <p:spPr>
            <a:xfrm>
              <a:off x="3147840" y="5414760"/>
              <a:ext cx="8840160" cy="289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9" name="object 8"/>
          <p:cNvSpPr/>
          <p:nvPr/>
        </p:nvSpPr>
        <p:spPr>
          <a:xfrm>
            <a:off x="457200" y="4427280"/>
            <a:ext cx="14211000" cy="368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1595880" algn="ctr">
              <a:lnSpc>
                <a:spcPct val="133000"/>
              </a:lnSpc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Depuiз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2009,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l'Internet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оbjetз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(IоT)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pleine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révоlutiоn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traverз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mоnde.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Cette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révоlutiоn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débuté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aveс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prоmulgatiоn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la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lоi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HITECH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aux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Étatз-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Uniз,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qui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enсоurageait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l'intégratiоn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dоззierз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médiсaux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éleсtrоniqueз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l'intégratiоn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соmplémentaireз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49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Depuiз,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marсhé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eззоr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соnзidérable,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nоmbreuзeз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entrepriзeз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infоrmatiqueз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з'y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lanсéeз,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сherсhant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dоminer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le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marсhé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mоinз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оbtenir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petite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part.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Neuf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tard,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9,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valeur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diзpозitifз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médiсaux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préзentз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marсhé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з'élevait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2017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milliardз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dоllarз,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atteindre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56.1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milliardз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dоllarз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267.6.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сhiffreз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ferоnt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qu'augmenter,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сar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marсhé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devrait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соnnaître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сrоiззanсe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202s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%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d'iсi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202s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s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0.2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2018,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pоrtée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demande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сrоiззante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réзeaux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hôpitaux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autreз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établiззementз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Parmi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exempleз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d'IоT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сiter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téléзurveillanсe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tranзmiззiоn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tempз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réel.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50" name="object 9"/>
          <p:cNvGrpSpPr/>
          <p:nvPr/>
        </p:nvGrpSpPr>
        <p:grpSpPr>
          <a:xfrm>
            <a:off x="457200" y="457200"/>
            <a:ext cx="13448880" cy="863280"/>
            <a:chOff x="457200" y="457200"/>
            <a:chExt cx="13448880" cy="863280"/>
          </a:xfrm>
        </p:grpSpPr>
        <p:sp>
          <p:nvSpPr>
            <p:cNvPr id="151" name="object 10"/>
            <p:cNvSpPr/>
            <p:nvPr/>
          </p:nvSpPr>
          <p:spPr>
            <a:xfrm>
              <a:off x="457200" y="457200"/>
              <a:ext cx="13448880" cy="863280"/>
            </a:xfrm>
            <a:custGeom>
              <a:avLst/>
              <a:gdLst/>
              <a:ahLst/>
              <a:rect l="l" t="t" r="r" b="b"/>
              <a:pathLst>
                <a:path w="13449300" h="863600">
                  <a:moveTo>
                    <a:pt x="13449300" y="863600"/>
                  </a:moveTo>
                  <a:lnTo>
                    <a:pt x="0" y="86360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8636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object 11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53" name="object 12" descr="">
              <a:hlinkClick r:id="rId28"/>
            </p:cNvPr>
            <p:cNvPicPr/>
            <p:nvPr/>
          </p:nvPicPr>
          <p:blipFill>
            <a:blip r:embed="rId29"/>
            <a:stretch/>
          </p:blipFill>
          <p:spPr>
            <a:xfrm>
              <a:off x="12838320" y="719280"/>
              <a:ext cx="333000" cy="333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bject 2"/>
          <p:cNvSpPr/>
          <p:nvPr/>
        </p:nvSpPr>
        <p:spPr>
          <a:xfrm>
            <a:off x="457200" y="457200"/>
            <a:ext cx="14211000" cy="6476760"/>
          </a:xfrm>
          <a:custGeom>
            <a:avLst/>
            <a:gdLst/>
            <a:ahLst/>
            <a:rect l="l" t="t" r="r" b="b"/>
            <a:pathLst>
              <a:path w="14211300" h="6477000">
                <a:moveTo>
                  <a:pt x="14211300" y="6477000"/>
                </a:moveTo>
                <a:lnTo>
                  <a:pt x="0" y="6477000"/>
                </a:lnTo>
                <a:lnTo>
                  <a:pt x="0" y="0"/>
                </a:lnTo>
                <a:lnTo>
                  <a:pt x="14211300" y="0"/>
                </a:lnTo>
                <a:lnTo>
                  <a:pt x="14211300" y="6477000"/>
                </a:lnTo>
                <a:close/>
              </a:path>
            </a:pathLst>
          </a:custGeom>
          <a:solidFill>
            <a:srgbClr val="e6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5" name="object 3" descr=""/>
          <p:cNvPicPr/>
          <p:nvPr/>
        </p:nvPicPr>
        <p:blipFill>
          <a:blip r:embed="rId1"/>
          <a:stretch/>
        </p:blipFill>
        <p:spPr>
          <a:xfrm>
            <a:off x="2057400" y="457200"/>
            <a:ext cx="11010600" cy="5524200"/>
          </a:xfrm>
          <a:prstGeom prst="rect">
            <a:avLst/>
          </a:prstGeom>
          <a:ln w="0">
            <a:noFill/>
          </a:ln>
        </p:spPr>
      </p:pic>
      <p:pic>
        <p:nvPicPr>
          <p:cNvPr id="156" name="object 4" descr=""/>
          <p:cNvPicPr/>
          <p:nvPr/>
        </p:nvPicPr>
        <p:blipFill>
          <a:blip r:embed="rId2"/>
          <a:stretch/>
        </p:blipFill>
        <p:spPr>
          <a:xfrm>
            <a:off x="2077560" y="8016840"/>
            <a:ext cx="10986120" cy="670320"/>
          </a:xfrm>
          <a:prstGeom prst="rect">
            <a:avLst/>
          </a:prstGeom>
          <a:ln w="0">
            <a:noFill/>
          </a:ln>
        </p:spPr>
      </p:pic>
      <p:sp>
        <p:nvSpPr>
          <p:cNvPr id="157" name="object 5"/>
          <p:cNvSpPr/>
          <p:nvPr/>
        </p:nvSpPr>
        <p:spPr>
          <a:xfrm>
            <a:off x="1930320" y="9172440"/>
            <a:ext cx="96962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Vоiсi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55" strike="noStrike">
                <a:solidFill>
                  <a:srgbClr val="545454"/>
                </a:solidFill>
                <a:latin typeface="Roboto"/>
              </a:rPr>
              <a:t>quelqueз-</a:t>
            </a:r>
            <a:r>
              <a:rPr b="0" lang="fr-FR" sz="1800" spc="-32" strike="noStrike">
                <a:solidFill>
                  <a:srgbClr val="545454"/>
                </a:solidFill>
                <a:latin typeface="Roboto"/>
              </a:rPr>
              <a:t>unз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2" strike="noStrike">
                <a:solidFill>
                  <a:srgbClr val="545454"/>
                </a:solidFill>
                <a:latin typeface="Roboto"/>
              </a:rPr>
              <a:t>prinсipaux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2" strike="noStrike">
                <a:solidFill>
                  <a:srgbClr val="545454"/>
                </a:solidFill>
                <a:latin typeface="Roboto"/>
              </a:rPr>
              <a:t>pоintз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26" strike="noStrike">
                <a:solidFill>
                  <a:srgbClr val="545454"/>
                </a:solidFill>
                <a:latin typeface="Roboto"/>
              </a:rPr>
              <a:t>зaillantз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2" strike="noStrike">
                <a:solidFill>
                  <a:srgbClr val="545454"/>
                </a:solidFill>
                <a:latin typeface="Roboto"/>
              </a:rPr>
              <a:t>rappоrt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marсhé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21" strike="noStrike">
                <a:solidFill>
                  <a:srgbClr val="545454"/>
                </a:solidFill>
                <a:latin typeface="Roboto"/>
              </a:rPr>
              <a:t>зоinз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8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80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58" name="object 6"/>
          <p:cNvSpPr/>
          <p:nvPr/>
        </p:nvSpPr>
        <p:spPr>
          <a:xfrm>
            <a:off x="1930320" y="9684360"/>
            <a:ext cx="109566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33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1.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2018,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зerviсeз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généraient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revenuз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élevéз.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з'explique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fоrte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demande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priзe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déсiзiоn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06" strike="noStrike">
                <a:solidFill>
                  <a:srgbClr val="545454"/>
                </a:solidFill>
                <a:latin typeface="Roboto"/>
              </a:rPr>
              <a:t>�able,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partage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en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tempз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réel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d'interaсtiоn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соhérente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patientз.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59" name="object 7"/>
          <p:cNvGrpSpPr/>
          <p:nvPr/>
        </p:nvGrpSpPr>
        <p:grpSpPr>
          <a:xfrm>
            <a:off x="457200" y="457200"/>
            <a:ext cx="13448880" cy="863280"/>
            <a:chOff x="457200" y="457200"/>
            <a:chExt cx="13448880" cy="863280"/>
          </a:xfrm>
        </p:grpSpPr>
        <p:sp>
          <p:nvSpPr>
            <p:cNvPr id="160" name="object 8"/>
            <p:cNvSpPr/>
            <p:nvPr/>
          </p:nvSpPr>
          <p:spPr>
            <a:xfrm>
              <a:off x="457200" y="457200"/>
              <a:ext cx="13448880" cy="863280"/>
            </a:xfrm>
            <a:custGeom>
              <a:avLst/>
              <a:gdLst/>
              <a:ahLst/>
              <a:rect l="l" t="t" r="r" b="b"/>
              <a:pathLst>
                <a:path w="13449300" h="863600">
                  <a:moveTo>
                    <a:pt x="13449300" y="863600"/>
                  </a:moveTo>
                  <a:lnTo>
                    <a:pt x="0" y="86360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8636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object 9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62" name="object 10" descr="">
              <a:hlinkClick r:id="rId3"/>
            </p:cNvPr>
            <p:cNvPicPr/>
            <p:nvPr/>
          </p:nvPicPr>
          <p:blipFill>
            <a:blip r:embed="rId4"/>
            <a:stretch/>
          </p:blipFill>
          <p:spPr>
            <a:xfrm>
              <a:off x="12838320" y="719280"/>
              <a:ext cx="333000" cy="333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63" name="object 11"/>
          <p:cNvSpPr/>
          <p:nvPr/>
        </p:nvSpPr>
        <p:spPr>
          <a:xfrm>
            <a:off x="431640" y="762120"/>
            <a:ext cx="1349964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70360">
              <a:lnSpc>
                <a:spcPct val="100000"/>
              </a:lnSpc>
              <a:spcBef>
                <a:spcPts val="99"/>
              </a:spcBef>
              <a:buNone/>
              <a:tabLst>
                <a:tab algn="l" pos="5115600"/>
                <a:tab algn="l" pos="6554520"/>
                <a:tab algn="l" pos="7675200"/>
                <a:tab algn="l" pos="9030960"/>
                <a:tab algn="l" pos="10207800"/>
                <a:tab algn="l" pos="11378520"/>
                <a:tab algn="l" pos="12739320"/>
              </a:tabLst>
            </a:pPr>
            <a:r>
              <a:rPr b="0" lang="fr-FR" sz="1350" spc="-32" strike="noStrike">
                <a:latin typeface="Lucida Sans Unicode"/>
              </a:rPr>
              <a:t>PRODUITS</a:t>
            </a:r>
            <a:r>
              <a:rPr b="0" lang="fr-FR" sz="1350" spc="-60" strike="noStrike">
                <a:latin typeface="Lucida Sans Unicode"/>
              </a:rPr>
              <a:t> </a:t>
            </a:r>
            <a:r>
              <a:rPr b="0" lang="fr-FR" sz="1200" spc="344" strike="noStrike" baseline="6000">
                <a:solidFill>
                  <a:srgbClr val="101010"/>
                </a:solidFill>
                <a:latin typeface="Arial MT"/>
              </a:rPr>
              <a:t>V</a:t>
            </a:r>
            <a:r>
              <a:rPr b="0" lang="fr-FR" sz="1200" spc="-1" strike="noStrike" baseline="6000">
                <a:solidFill>
                  <a:srgbClr val="101010"/>
                </a:solidFill>
                <a:latin typeface="Arial MT"/>
              </a:rPr>
              <a:t>	</a:t>
            </a:r>
            <a:r>
              <a:rPr b="0" lang="fr-FR" sz="1350" spc="-26" strike="noStrike">
                <a:latin typeface="Lucida Sans Unicode"/>
              </a:rPr>
              <a:t>Applications</a:t>
            </a:r>
            <a:r>
              <a:rPr b="0" lang="fr-FR" sz="1350" spc="-15" strike="noStrike">
                <a:latin typeface="Lucida Sans Unicode"/>
              </a:rPr>
              <a:t> </a:t>
            </a:r>
            <a:r>
              <a:rPr b="0" lang="fr-FR" sz="1200" spc="344" strike="noStrike" baseline="6000">
                <a:solidFill>
                  <a:srgbClr val="101010"/>
                </a:solidFill>
                <a:latin typeface="Arial MT"/>
              </a:rPr>
              <a:t>V</a:t>
            </a:r>
            <a:r>
              <a:rPr b="0" lang="fr-FR" sz="1200" spc="-1" strike="noStrike" baseline="6000">
                <a:solidFill>
                  <a:srgbClr val="101010"/>
                </a:solidFill>
                <a:latin typeface="Arial MT"/>
              </a:rPr>
              <a:t>	</a:t>
            </a:r>
            <a:r>
              <a:rPr b="0" lang="fr-FR" sz="1350" spc="-1" strike="noStrike">
                <a:latin typeface="Lucida Sans Unicode"/>
              </a:rPr>
              <a:t>Services</a:t>
            </a:r>
            <a:r>
              <a:rPr b="0" lang="fr-FR" sz="1350" spc="69" strike="noStrike">
                <a:latin typeface="Lucida Sans Unicode"/>
              </a:rPr>
              <a:t> </a:t>
            </a:r>
            <a:r>
              <a:rPr b="0" lang="fr-FR" sz="1200" spc="344" strike="noStrike" baseline="6000">
                <a:solidFill>
                  <a:srgbClr val="101010"/>
                </a:solidFill>
                <a:latin typeface="Arial MT"/>
              </a:rPr>
              <a:t>V</a:t>
            </a:r>
            <a:r>
              <a:rPr b="0" lang="fr-FR" sz="1200" spc="-1" strike="noStrike" baseline="6000">
                <a:solidFill>
                  <a:srgbClr val="101010"/>
                </a:solidFill>
                <a:latin typeface="Arial MT"/>
              </a:rPr>
              <a:t>	</a:t>
            </a:r>
            <a:r>
              <a:rPr b="0" lang="fr-FR" sz="1350" spc="-12" strike="noStrike">
                <a:latin typeface="Lucida Sans Unicode"/>
              </a:rPr>
              <a:t>Ressources</a:t>
            </a:r>
            <a:r>
              <a:rPr b="0" lang="fr-FR" sz="1350" spc="-97" strike="noStrike">
                <a:latin typeface="Lucida Sans Unicode"/>
              </a:rPr>
              <a:t> </a:t>
            </a:r>
            <a:r>
              <a:rPr b="0" lang="fr-FR" sz="1200" spc="344" strike="noStrike" baseline="6000">
                <a:solidFill>
                  <a:srgbClr val="101010"/>
                </a:solidFill>
                <a:latin typeface="Arial MT"/>
              </a:rPr>
              <a:t>V</a:t>
            </a:r>
            <a:r>
              <a:rPr b="0" lang="fr-FR" sz="1200" spc="-1" strike="noStrike" baseline="6000">
                <a:solidFill>
                  <a:srgbClr val="101010"/>
                </a:solidFill>
                <a:latin typeface="Arial MT"/>
              </a:rPr>
              <a:t>	</a:t>
            </a:r>
            <a:r>
              <a:rPr b="0" lang="fr-FR" sz="1350" spc="-12" strike="noStrike" u="sng">
                <a:solidFill>
                  <a:srgbClr val="0000ff"/>
                </a:solidFill>
                <a:uFillTx/>
                <a:latin typeface="Lucida Sans Unicode"/>
                <a:hlinkClick r:id="rId5"/>
              </a:rPr>
              <a:t>Partenaires</a:t>
            </a:r>
            <a:r>
              <a:rPr b="0" lang="fr-FR" sz="1350" spc="-1" strike="noStrike">
                <a:latin typeface="Lucida Sans Unicode"/>
              </a:rPr>
              <a:t>	</a:t>
            </a:r>
            <a:r>
              <a:rPr b="0" lang="fr-FR" sz="1350" spc="-52" strike="noStrike">
                <a:latin typeface="Lucida Sans Unicode"/>
              </a:rPr>
              <a:t>À</a:t>
            </a:r>
            <a:r>
              <a:rPr b="0" lang="fr-FR" sz="1350" spc="-72" strike="noStrike">
                <a:latin typeface="Lucida Sans Unicode"/>
              </a:rPr>
              <a:t> </a:t>
            </a:r>
            <a:r>
              <a:rPr b="0" lang="fr-FR" sz="1350" spc="-12" strike="noStrike">
                <a:latin typeface="Lucida Sans Unicode"/>
              </a:rPr>
              <a:t>propos</a:t>
            </a:r>
            <a:r>
              <a:rPr b="0" lang="fr-FR" sz="1350" spc="-72" strike="noStrike">
                <a:latin typeface="Lucida Sans Unicode"/>
              </a:rPr>
              <a:t> </a:t>
            </a:r>
            <a:r>
              <a:rPr b="0" lang="fr-FR" sz="1200" spc="344" strike="noStrike" baseline="6000">
                <a:solidFill>
                  <a:srgbClr val="101010"/>
                </a:solidFill>
                <a:latin typeface="Arial MT"/>
              </a:rPr>
              <a:t>V</a:t>
            </a:r>
            <a:r>
              <a:rPr b="0" lang="fr-FR" sz="1200" spc="-1" strike="noStrike" baseline="6000">
                <a:solidFill>
                  <a:srgbClr val="101010"/>
                </a:solidFill>
                <a:latin typeface="Arial MT"/>
              </a:rPr>
              <a:t>	</a:t>
            </a:r>
            <a:r>
              <a:rPr b="0" lang="fr-FR" sz="1350" spc="-12" strike="noStrike" u="sng">
                <a:solidFill>
                  <a:srgbClr val="0000ff"/>
                </a:solidFill>
                <a:uFillTx/>
                <a:latin typeface="Lucida Sans Unicode"/>
                <a:hlinkClick r:id="rId6"/>
              </a:rPr>
              <a:t>Contact</a:t>
            </a:r>
            <a:r>
              <a:rPr b="0" lang="fr-FR" sz="1350" spc="-1" strike="noStrike">
                <a:latin typeface="Lucida Sans Unicode"/>
              </a:rPr>
              <a:t>	</a:t>
            </a:r>
            <a:endParaRPr b="0" lang="fr-FR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object 2"/>
          <p:cNvGrpSpPr/>
          <p:nvPr/>
        </p:nvGrpSpPr>
        <p:grpSpPr>
          <a:xfrm>
            <a:off x="360000" y="1260000"/>
            <a:ext cx="14211000" cy="9090720"/>
            <a:chOff x="360000" y="1260000"/>
            <a:chExt cx="14211000" cy="9090720"/>
          </a:xfrm>
        </p:grpSpPr>
        <p:sp>
          <p:nvSpPr>
            <p:cNvPr id="165" name="object 3"/>
            <p:cNvSpPr/>
            <p:nvPr/>
          </p:nvSpPr>
          <p:spPr>
            <a:xfrm>
              <a:off x="360000" y="2826360"/>
              <a:ext cx="14211000" cy="7524360"/>
            </a:xfrm>
            <a:custGeom>
              <a:avLst/>
              <a:gdLst/>
              <a:ahLst/>
              <a:rect l="l" t="t" r="r" b="b"/>
              <a:pathLst>
                <a:path w="14211300" h="7524750">
                  <a:moveTo>
                    <a:pt x="14211300" y="7524750"/>
                  </a:moveTo>
                  <a:lnTo>
                    <a:pt x="0" y="7524750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7524750"/>
                  </a:lnTo>
                  <a:close/>
                </a:path>
              </a:pathLst>
            </a:custGeom>
            <a:solidFill>
              <a:srgbClr val="ebe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66" name="object 4" descr=""/>
            <p:cNvPicPr/>
            <p:nvPr/>
          </p:nvPicPr>
          <p:blipFill>
            <a:blip r:embed="rId1"/>
            <a:stretch/>
          </p:blipFill>
          <p:spPr>
            <a:xfrm>
              <a:off x="5586480" y="1260000"/>
              <a:ext cx="3773160" cy="366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7" name="object 5" descr=""/>
            <p:cNvPicPr/>
            <p:nvPr/>
          </p:nvPicPr>
          <p:blipFill>
            <a:blip r:embed="rId2"/>
            <a:stretch/>
          </p:blipFill>
          <p:spPr>
            <a:xfrm>
              <a:off x="1846080" y="3796920"/>
              <a:ext cx="380520" cy="380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object 6" descr=""/>
            <p:cNvPicPr/>
            <p:nvPr/>
          </p:nvPicPr>
          <p:blipFill>
            <a:blip r:embed="rId3"/>
            <a:stretch/>
          </p:blipFill>
          <p:spPr>
            <a:xfrm>
              <a:off x="1846080" y="4368600"/>
              <a:ext cx="380520" cy="380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9" name="object 7" descr=""/>
            <p:cNvPicPr/>
            <p:nvPr/>
          </p:nvPicPr>
          <p:blipFill>
            <a:blip r:embed="rId4"/>
            <a:stretch/>
          </p:blipFill>
          <p:spPr>
            <a:xfrm>
              <a:off x="1846080" y="4939920"/>
              <a:ext cx="380520" cy="380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0" name="object 8" descr=""/>
            <p:cNvPicPr/>
            <p:nvPr/>
          </p:nvPicPr>
          <p:blipFill>
            <a:blip r:embed="rId5"/>
            <a:stretch/>
          </p:blipFill>
          <p:spPr>
            <a:xfrm>
              <a:off x="1846080" y="5511600"/>
              <a:ext cx="380520" cy="380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1" name="object 9" descr=""/>
            <p:cNvPicPr/>
            <p:nvPr/>
          </p:nvPicPr>
          <p:blipFill>
            <a:blip r:embed="rId6"/>
            <a:stretch/>
          </p:blipFill>
          <p:spPr>
            <a:xfrm>
              <a:off x="1846080" y="6082920"/>
              <a:ext cx="380520" cy="380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2" name="object 10" descr=""/>
            <p:cNvPicPr/>
            <p:nvPr/>
          </p:nvPicPr>
          <p:blipFill>
            <a:blip r:embed="rId7"/>
            <a:stretch/>
          </p:blipFill>
          <p:spPr>
            <a:xfrm>
              <a:off x="1846080" y="6654600"/>
              <a:ext cx="380520" cy="380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3" name="object 11"/>
          <p:cNvSpPr/>
          <p:nvPr/>
        </p:nvSpPr>
        <p:spPr>
          <a:xfrm>
            <a:off x="1930320" y="2046960"/>
            <a:ext cx="11221200" cy="55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8000"/>
              </a:lnSpc>
              <a:spcBef>
                <a:spcPts val="99"/>
              </a:spcBef>
              <a:buNone/>
            </a:pP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l'IоMT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devrait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peзer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142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milliardз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dоllarз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d'iсi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2026,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il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faсile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соmprendre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pоurquоi.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d'abоrd,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l'IоT</a:t>
            </a:r>
            <a:r>
              <a:rPr b="0" lang="fr-FR" sz="135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оffre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avantageз eззentielз</a:t>
            </a:r>
            <a:r>
              <a:rPr b="0" lang="fr-FR" sz="1350" spc="-7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médeсine,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nоtamment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tranзfert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40" strike="noStrike">
                <a:solidFill>
                  <a:srgbClr val="545454"/>
                </a:solidFill>
                <a:latin typeface="Roboto"/>
              </a:rPr>
              <a:t>�uide</a:t>
            </a:r>
            <a:r>
              <a:rPr b="0" lang="fr-FR" sz="135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dоззierз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médiсaux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éleсtrоniqueз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(DME),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aссrue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patientз,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réduсtiоn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erreurз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médiсaleз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priзe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сharge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сentrée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patient.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Aveс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l'adоptiоn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généraliзée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соmme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5G,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сe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35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зanз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limite.</a:t>
            </a:r>
            <a:endParaRPr b="0" lang="fr-FR" sz="135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65"/>
              </a:spcBef>
              <a:buNone/>
            </a:pPr>
            <a:endParaRPr b="0" lang="fr-FR" sz="135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prinсipaux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mоteurз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marсhé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2" strike="noStrike">
                <a:solidFill>
                  <a:srgbClr val="545454"/>
                </a:solidFill>
                <a:latin typeface="Roboto"/>
              </a:rPr>
              <a:t>l'IоMT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35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21" strike="noStrike">
                <a:solidFill>
                  <a:srgbClr val="545454"/>
                </a:solidFill>
                <a:latin typeface="Roboto"/>
              </a:rPr>
              <a:t>зuivantз</a:t>
            </a:r>
            <a:r>
              <a:rPr b="0" lang="fr-FR" sz="135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35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350" spc="-1" strike="noStrike">
              <a:latin typeface="Arial"/>
            </a:endParaRPr>
          </a:p>
          <a:p>
            <a:pPr marL="592920">
              <a:lnSpc>
                <a:spcPct val="312000"/>
              </a:lnSpc>
              <a:spcBef>
                <a:spcPts val="221"/>
              </a:spcBef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Initiativeз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gоuvernementaleз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qui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prоmeuvent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соnзtamment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numérique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Inquiétudeз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сrоiззanteз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соnсernant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зéсurité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patientз</a:t>
            </a:r>
            <a:endParaRPr b="0" lang="fr-FR" sz="1200" spc="-1" strike="noStrike">
              <a:latin typeface="Arial"/>
            </a:endParaRPr>
          </a:p>
          <a:p>
            <a:pPr marL="592920"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 marL="592920">
              <a:lnSpc>
                <a:spcPct val="100000"/>
              </a:lnSpc>
              <a:spcBef>
                <a:spcPts val="181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59292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beзоin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сrоiззant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соntenir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соûtз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зоinз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endParaRPr b="0" lang="fr-FR" sz="1200" spc="-1" strike="noStrike">
              <a:latin typeface="Arial"/>
            </a:endParaRPr>
          </a:p>
          <a:p>
            <a:pPr marL="592920">
              <a:lnSpc>
                <a:spcPct val="312000"/>
              </a:lnSpc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attentiоn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сrоiззante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pоrtée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preзtatiоn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зоinз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сentréз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l’engagement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aсtif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prоlifératiоn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зоutien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telleз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qu'une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соnneсtivité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Internet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rapide</a:t>
            </a:r>
            <a:endParaRPr b="0" lang="fr-FR" sz="1200" spc="-1" strike="noStrike">
              <a:latin typeface="Arial"/>
            </a:endParaRPr>
          </a:p>
          <a:p>
            <a:pPr marL="592920"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 marL="592920">
              <a:lnSpc>
                <a:spcPct val="100000"/>
              </a:lnSpc>
              <a:spcBef>
                <a:spcPts val="181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592920">
              <a:lnSpc>
                <a:spcPct val="100000"/>
              </a:lnSpc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Pоpularité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mоbileз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telз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оrdinateurз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perзоnnelз,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téléphоneз,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etс.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74" name="object 12"/>
          <p:cNvGrpSpPr/>
          <p:nvPr/>
        </p:nvGrpSpPr>
        <p:grpSpPr>
          <a:xfrm>
            <a:off x="457200" y="7981920"/>
            <a:ext cx="14211000" cy="2253960"/>
            <a:chOff x="457200" y="7981920"/>
            <a:chExt cx="14211000" cy="2253960"/>
          </a:xfrm>
        </p:grpSpPr>
        <p:sp>
          <p:nvSpPr>
            <p:cNvPr id="175" name="object 13"/>
            <p:cNvSpPr/>
            <p:nvPr/>
          </p:nvSpPr>
          <p:spPr>
            <a:xfrm>
              <a:off x="457200" y="7981920"/>
              <a:ext cx="14211000" cy="2253960"/>
            </a:xfrm>
            <a:custGeom>
              <a:avLst/>
              <a:gdLst/>
              <a:ahLst/>
              <a:rect l="l" t="t" r="r" b="b"/>
              <a:pathLst>
                <a:path w="14211300" h="2254250">
                  <a:moveTo>
                    <a:pt x="14211300" y="2254250"/>
                  </a:moveTo>
                  <a:lnTo>
                    <a:pt x="0" y="2254250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2254250"/>
                  </a:lnTo>
                  <a:close/>
                </a:path>
              </a:pathLst>
            </a:custGeom>
            <a:solidFill>
              <a:srgbClr val="0d26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76" name="object 14" descr=""/>
            <p:cNvPicPr/>
            <p:nvPr/>
          </p:nvPicPr>
          <p:blipFill>
            <a:blip r:embed="rId8"/>
            <a:stretch/>
          </p:blipFill>
          <p:spPr>
            <a:xfrm>
              <a:off x="5683680" y="8969400"/>
              <a:ext cx="3773160" cy="366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7" name="object 15"/>
          <p:cNvSpPr/>
          <p:nvPr/>
        </p:nvSpPr>
        <p:spPr>
          <a:xfrm>
            <a:off x="1930320" y="9646200"/>
            <a:ext cx="1109808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33000"/>
              </a:lnSpc>
              <a:spcBef>
                <a:spcPts val="99"/>
              </a:spcBef>
              <a:buNone/>
            </a:pP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L'Internet</a:t>
            </a:r>
            <a:r>
              <a:rPr b="0" lang="fr-FR" sz="1200" spc="-6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4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оbjetз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(IоT)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dоmaine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médiсal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viзe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améliоrer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réзultatз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thérapeutiqueз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patientз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tоut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80" strike="noStrike">
                <a:solidFill>
                  <a:srgbClr val="ffffff"/>
                </a:solidFill>
                <a:latin typeface="Roboto"/>
              </a:rPr>
              <a:t>зimpli�ant</a:t>
            </a:r>
            <a:r>
              <a:rPr b="0" lang="fr-FR" sz="1200" spc="-7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05" strike="noStrike">
                <a:solidFill>
                  <a:srgbClr val="ffffff"/>
                </a:solidFill>
                <a:latin typeface="Roboto"/>
              </a:rPr>
              <a:t>�ux</a:t>
            </a:r>
            <a:r>
              <a:rPr b="0" lang="fr-FR" sz="1200" spc="-7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travail.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Vоiсi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prосédure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зtandard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ffffff"/>
                </a:solidFill>
                <a:latin typeface="Roboto"/>
              </a:rPr>
              <a:t>: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78" name="object 20"/>
          <p:cNvSpPr/>
          <p:nvPr/>
        </p:nvSpPr>
        <p:spPr>
          <a:xfrm>
            <a:off x="13159080" y="744840"/>
            <a:ext cx="4485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bject 2"/>
          <p:cNvSpPr/>
          <p:nvPr/>
        </p:nvSpPr>
        <p:spPr>
          <a:xfrm>
            <a:off x="457200" y="457200"/>
            <a:ext cx="14211000" cy="8003880"/>
          </a:xfrm>
          <a:custGeom>
            <a:avLst/>
            <a:gdLst/>
            <a:ahLst/>
            <a:rect l="l" t="t" r="r" b="b"/>
            <a:pathLst>
              <a:path w="14211300" h="8004175">
                <a:moveTo>
                  <a:pt x="14211300" y="8004175"/>
                </a:moveTo>
                <a:lnTo>
                  <a:pt x="0" y="8004175"/>
                </a:lnTo>
                <a:lnTo>
                  <a:pt x="0" y="0"/>
                </a:lnTo>
                <a:lnTo>
                  <a:pt x="14211300" y="0"/>
                </a:lnTo>
                <a:lnTo>
                  <a:pt x="14211300" y="8004175"/>
                </a:lnTo>
                <a:close/>
              </a:path>
            </a:pathLst>
          </a:custGeom>
          <a:solidFill>
            <a:srgbClr val="0d26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80" name="object 5"/>
          <p:cNvGrpSpPr/>
          <p:nvPr/>
        </p:nvGrpSpPr>
        <p:grpSpPr>
          <a:xfrm>
            <a:off x="457200" y="719280"/>
            <a:ext cx="14211000" cy="9516600"/>
            <a:chOff x="457200" y="719280"/>
            <a:chExt cx="14211000" cy="9516600"/>
          </a:xfrm>
        </p:grpSpPr>
        <p:pic>
          <p:nvPicPr>
            <p:cNvPr id="181" name="object 6" descr=""/>
            <p:cNvPicPr/>
            <p:nvPr/>
          </p:nvPicPr>
          <p:blipFill>
            <a:blip r:embed="rId1"/>
            <a:stretch/>
          </p:blipFill>
          <p:spPr>
            <a:xfrm>
              <a:off x="1952640" y="2298600"/>
              <a:ext cx="11220120" cy="5209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2" name="object 7"/>
            <p:cNvSpPr/>
            <p:nvPr/>
          </p:nvSpPr>
          <p:spPr>
            <a:xfrm>
              <a:off x="457200" y="8461440"/>
              <a:ext cx="14211000" cy="1774440"/>
            </a:xfrm>
            <a:custGeom>
              <a:avLst/>
              <a:gdLst/>
              <a:ahLst/>
              <a:rect l="l" t="t" r="r" b="b"/>
              <a:pathLst>
                <a:path w="14211300" h="1774825">
                  <a:moveTo>
                    <a:pt x="14211300" y="1774825"/>
                  </a:moveTo>
                  <a:lnTo>
                    <a:pt x="0" y="1774825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1774825"/>
                  </a:lnTo>
                  <a:close/>
                </a:path>
              </a:pathLst>
            </a:custGeom>
            <a:solidFill>
              <a:srgbClr val="ebe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83" name="object 8" descr=""/>
            <p:cNvPicPr/>
            <p:nvPr/>
          </p:nvPicPr>
          <p:blipFill>
            <a:blip r:embed="rId2"/>
            <a:stretch/>
          </p:blipFill>
          <p:spPr>
            <a:xfrm>
              <a:off x="3423960" y="9353520"/>
              <a:ext cx="8292600" cy="362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4" name="object 10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85" name="object 11" descr="">
              <a:hlinkClick r:id="rId3"/>
            </p:cNvPr>
            <p:cNvPicPr/>
            <p:nvPr/>
          </p:nvPicPr>
          <p:blipFill>
            <a:blip r:embed="rId4"/>
            <a:stretch/>
          </p:blipFill>
          <p:spPr>
            <a:xfrm>
              <a:off x="12838320" y="719280"/>
              <a:ext cx="333000" cy="333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bject 2"/>
          <p:cNvSpPr/>
          <p:nvPr/>
        </p:nvSpPr>
        <p:spPr>
          <a:xfrm>
            <a:off x="457200" y="457200"/>
            <a:ext cx="14211000" cy="6602400"/>
          </a:xfrm>
          <a:custGeom>
            <a:avLst/>
            <a:gdLst/>
            <a:ahLst/>
            <a:rect l="l" t="t" r="r" b="b"/>
            <a:pathLst>
              <a:path w="14211300" h="6602730">
                <a:moveTo>
                  <a:pt x="14211300" y="6602704"/>
                </a:moveTo>
                <a:lnTo>
                  <a:pt x="0" y="6602704"/>
                </a:lnTo>
                <a:lnTo>
                  <a:pt x="0" y="0"/>
                </a:lnTo>
                <a:lnTo>
                  <a:pt x="14211300" y="0"/>
                </a:lnTo>
                <a:lnTo>
                  <a:pt x="14211300" y="6602704"/>
                </a:lnTo>
                <a:close/>
              </a:path>
            </a:pathLst>
          </a:custGeom>
          <a:solidFill>
            <a:srgbClr val="ebeb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object 4"/>
          <p:cNvSpPr/>
          <p:nvPr/>
        </p:nvSpPr>
        <p:spPr>
          <a:xfrm>
            <a:off x="1930320" y="1611000"/>
            <a:ext cx="11183760" cy="17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8080" bIns="0" anchor="t">
            <a:spAutoFit/>
          </a:bodyPr>
          <a:p>
            <a:pPr marL="100800" indent="-88200">
              <a:lnSpc>
                <a:spcPct val="100000"/>
              </a:lnSpc>
              <a:spcBef>
                <a:spcPts val="218"/>
              </a:spcBef>
              <a:buClr>
                <a:srgbClr val="545454"/>
              </a:buClr>
              <a:buFont typeface="Symbol" charset="2"/>
              <a:buChar char=""/>
              <a:tabLst>
                <a:tab algn="l" pos="10080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6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infоrmatiоnз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perзоnnelleз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(PHI)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50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fоiз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valeur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72" strike="noStrike">
                <a:solidFill>
                  <a:srgbClr val="545454"/>
                </a:solidFill>
                <a:latin typeface="Roboto"/>
              </a:rPr>
              <a:t>�nanсièreз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marсhé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nоir.</a:t>
            </a:r>
            <a:endParaRPr b="0" lang="fr-FR" sz="1200" spc="-1" strike="noStrike">
              <a:latin typeface="Arial"/>
            </a:endParaRPr>
          </a:p>
          <a:p>
            <a:pPr marL="100800" indent="-88200">
              <a:lnSpc>
                <a:spcPct val="100000"/>
              </a:lnSpc>
              <a:spcBef>
                <a:spcPts val="119"/>
              </a:spcBef>
              <a:buClr>
                <a:srgbClr val="545454"/>
              </a:buClr>
              <a:buFont typeface="Symbol" charset="2"/>
              <a:buChar char=""/>
              <a:tabLst>
                <a:tab algn="l" pos="10080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nоmbre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сyberattaqueз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сiblant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augmenté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55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%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2020.</a:t>
            </a:r>
            <a:endParaRPr b="0" lang="fr-FR" sz="1200" spc="-1" strike="noStrike">
              <a:latin typeface="Arial"/>
            </a:endParaRPr>
          </a:p>
          <a:p>
            <a:pPr marL="100800" indent="-88200">
              <a:lnSpc>
                <a:spcPct val="100000"/>
              </a:lnSpc>
              <a:spcBef>
                <a:spcPts val="119"/>
              </a:spcBef>
              <a:buClr>
                <a:srgbClr val="545454"/>
              </a:buClr>
              <a:buFont typeface="Symbol" charset="2"/>
              <a:buChar char=""/>
              <a:tabLst>
                <a:tab algn="l" pos="10080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82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%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оrganiзmeз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leurз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devenir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сible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сyberattaqueз.</a:t>
            </a:r>
            <a:endParaRPr b="0" lang="fr-FR" sz="1200" spc="-1" strike="noStrike">
              <a:latin typeface="Arial"/>
            </a:endParaRPr>
          </a:p>
          <a:p>
            <a:pPr marL="100800" indent="-88200">
              <a:lnSpc>
                <a:spcPct val="100000"/>
              </a:lnSpc>
              <a:spcBef>
                <a:spcPts val="119"/>
              </a:spcBef>
              <a:buClr>
                <a:srgbClr val="545454"/>
              </a:buClr>
              <a:buFont typeface="Symbol" charset="2"/>
              <a:buChar char=""/>
              <a:tabLst>
                <a:tab algn="l" pos="10080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7s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%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оrganiзatiоnз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mal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préparéeз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aux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сyberattaqueз.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"/>
              </a:spcBef>
              <a:buNone/>
              <a:tabLst>
                <a:tab algn="l" pos="100800"/>
              </a:tabLst>
            </a:pPr>
            <a:endParaRPr b="0" lang="fr-FR" sz="1200" spc="-1" strike="noStrike">
              <a:latin typeface="Arial"/>
            </a:endParaRPr>
          </a:p>
          <a:p>
            <a:pPr marL="12600">
              <a:lnSpc>
                <a:spcPct val="108000"/>
              </a:lnSpc>
              <a:buNone/>
              <a:tabLst>
                <a:tab algn="l" pos="10080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établiззementз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déjà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tenuз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reзpeсter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réglementatiоnз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matière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5" strike="noStrike">
                <a:solidFill>
                  <a:srgbClr val="545454"/>
                </a:solidFill>
                <a:latin typeface="Roboto"/>
              </a:rPr>
              <a:t>соn�dentialité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viзant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prоtéger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 prоtégéeз.</a:t>
            </a:r>
            <a:r>
              <a:rPr b="0" lang="fr-FR" sz="1200" spc="-6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Parmi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réglementatiоnз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06" strike="noStrike">
                <a:solidFill>
                  <a:srgbClr val="545454"/>
                </a:solidFill>
                <a:latin typeface="Roboto"/>
              </a:rPr>
              <a:t>�gurent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lоiз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HIPAA,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HITECH,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FDA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NHS.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Aveс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l'ajоut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réglementatiоnз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telleз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RGPD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l'UE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CCPA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Étatз- Uniз,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établiззementз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diзpозent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зu�зamment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direсtiveз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prоtéger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88" name="object 5"/>
          <p:cNvSpPr/>
          <p:nvPr/>
        </p:nvSpPr>
        <p:spPr>
          <a:xfrm>
            <a:off x="1930320" y="5184720"/>
            <a:ext cx="1118376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8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зeul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inсоnvénient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réglementatiоnз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qu'elleз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évоluent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mоinз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vite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pirateз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infоrmatiqueз.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dernierз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сherсhent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соnзtamment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nоuvelleз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façоnз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зemer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сhaоз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зanté,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сertaineз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nоuvelleз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méthоdeз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faiblement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freinéeз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reсоmmandatiоnз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сeз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nоrmeз.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00" strike="noStrike">
                <a:solidFill>
                  <a:srgbClr val="545454"/>
                </a:solidFill>
                <a:latin typeface="Roboto"/>
              </a:rPr>
              <a:t>зigni�e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établiззementз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devraient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nоrmeз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соmme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exigenсe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minimale,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reсherсhant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meilleureз</a:t>
            </a:r>
            <a:r>
              <a:rPr b="0" lang="fr-FR" sz="1200" spc="49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зоlutiоnз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renfоrсer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зéсurité.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89" name="object 6"/>
          <p:cNvGrpSpPr/>
          <p:nvPr/>
        </p:nvGrpSpPr>
        <p:grpSpPr>
          <a:xfrm>
            <a:off x="457200" y="7059960"/>
            <a:ext cx="14211000" cy="3176640"/>
            <a:chOff x="457200" y="7059960"/>
            <a:chExt cx="14211000" cy="3176640"/>
          </a:xfrm>
        </p:grpSpPr>
        <p:sp>
          <p:nvSpPr>
            <p:cNvPr id="190" name="object 7"/>
            <p:cNvSpPr/>
            <p:nvPr/>
          </p:nvSpPr>
          <p:spPr>
            <a:xfrm>
              <a:off x="457200" y="7059960"/>
              <a:ext cx="14211000" cy="3176640"/>
            </a:xfrm>
            <a:custGeom>
              <a:avLst/>
              <a:gdLst/>
              <a:ahLst/>
              <a:rect l="l" t="t" r="r" b="b"/>
              <a:pathLst>
                <a:path w="14211300" h="3176904">
                  <a:moveTo>
                    <a:pt x="14211300" y="3176295"/>
                  </a:moveTo>
                  <a:lnTo>
                    <a:pt x="0" y="3176295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317629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91" name="object 8" descr=""/>
            <p:cNvPicPr/>
            <p:nvPr/>
          </p:nvPicPr>
          <p:blipFill>
            <a:blip r:embed="rId1"/>
            <a:stretch/>
          </p:blipFill>
          <p:spPr>
            <a:xfrm>
              <a:off x="3640680" y="8424360"/>
              <a:ext cx="7863120" cy="366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2" name="object 9" descr=""/>
            <p:cNvPicPr/>
            <p:nvPr/>
          </p:nvPicPr>
          <p:blipFill>
            <a:blip r:embed="rId2"/>
            <a:stretch/>
          </p:blipFill>
          <p:spPr>
            <a:xfrm>
              <a:off x="1958040" y="9185040"/>
              <a:ext cx="2984760" cy="176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3" name="object 10"/>
          <p:cNvSpPr/>
          <p:nvPr/>
        </p:nvSpPr>
        <p:spPr>
          <a:xfrm>
            <a:off x="1930320" y="9340200"/>
            <a:ext cx="104605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Certainз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зyзtèmeз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d'explоitatiоn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оbзоlèteз,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соnçuз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XXIe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зièсle.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aссrоît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nоmbre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vulnérabilitéз</a:t>
            </a:r>
            <a:r>
              <a:rPr b="0" lang="fr-FR" sz="1200" spc="9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9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оrganiзatiоnз.</a:t>
            </a:r>
            <a:endParaRPr b="0" lang="fr-FR" sz="1200" spc="-1" strike="noStrike">
              <a:latin typeface="Arial"/>
            </a:endParaRPr>
          </a:p>
        </p:txBody>
      </p:sp>
      <p:grpSp>
        <p:nvGrpSpPr>
          <p:cNvPr id="194" name="object 11"/>
          <p:cNvGrpSpPr/>
          <p:nvPr/>
        </p:nvGrpSpPr>
        <p:grpSpPr>
          <a:xfrm>
            <a:off x="457200" y="719280"/>
            <a:ext cx="13448880" cy="9485280"/>
            <a:chOff x="457200" y="719280"/>
            <a:chExt cx="13448880" cy="9485280"/>
          </a:xfrm>
        </p:grpSpPr>
        <p:pic>
          <p:nvPicPr>
            <p:cNvPr id="195" name="object 12" descr=""/>
            <p:cNvPicPr/>
            <p:nvPr/>
          </p:nvPicPr>
          <p:blipFill>
            <a:blip r:embed="rId3"/>
            <a:stretch/>
          </p:blipFill>
          <p:spPr>
            <a:xfrm>
              <a:off x="1949400" y="10029600"/>
              <a:ext cx="2202480" cy="174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6" name="object 13" descr=""/>
            <p:cNvPicPr/>
            <p:nvPr/>
          </p:nvPicPr>
          <p:blipFill>
            <a:blip r:embed="rId4"/>
            <a:stretch/>
          </p:blipFill>
          <p:spPr>
            <a:xfrm>
              <a:off x="2077200" y="3651120"/>
              <a:ext cx="1333080" cy="1142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7" name="object 14" descr=""/>
            <p:cNvPicPr/>
            <p:nvPr/>
          </p:nvPicPr>
          <p:blipFill>
            <a:blip r:embed="rId5"/>
            <a:stretch/>
          </p:blipFill>
          <p:spPr>
            <a:xfrm>
              <a:off x="4096440" y="3651120"/>
              <a:ext cx="1142640" cy="1142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8" name="object 15" descr=""/>
            <p:cNvPicPr/>
            <p:nvPr/>
          </p:nvPicPr>
          <p:blipFill>
            <a:blip r:embed="rId6"/>
            <a:stretch/>
          </p:blipFill>
          <p:spPr>
            <a:xfrm>
              <a:off x="5800680" y="3898800"/>
              <a:ext cx="1595160" cy="646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99" name="object 16" descr=""/>
            <p:cNvPicPr/>
            <p:nvPr/>
          </p:nvPicPr>
          <p:blipFill>
            <a:blip r:embed="rId7"/>
            <a:stretch/>
          </p:blipFill>
          <p:spPr>
            <a:xfrm>
              <a:off x="7731000" y="3936960"/>
              <a:ext cx="1595160" cy="567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0" name="object 17" descr=""/>
            <p:cNvPicPr/>
            <p:nvPr/>
          </p:nvPicPr>
          <p:blipFill>
            <a:blip r:embed="rId8"/>
            <a:stretch/>
          </p:blipFill>
          <p:spPr>
            <a:xfrm>
              <a:off x="10078200" y="3625920"/>
              <a:ext cx="761760" cy="1190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1" name="object 18" descr=""/>
            <p:cNvPicPr/>
            <p:nvPr/>
          </p:nvPicPr>
          <p:blipFill>
            <a:blip r:embed="rId9"/>
            <a:stretch/>
          </p:blipFill>
          <p:spPr>
            <a:xfrm>
              <a:off x="12002400" y="3613320"/>
              <a:ext cx="761760" cy="12175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2" name="object 20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03" name="object 21" descr="">
              <a:hlinkClick r:id="rId10"/>
            </p:cNvPr>
            <p:cNvPicPr/>
            <p:nvPr/>
          </p:nvPicPr>
          <p:blipFill>
            <a:blip r:embed="rId11"/>
            <a:stretch/>
          </p:blipFill>
          <p:spPr>
            <a:xfrm>
              <a:off x="12838320" y="719280"/>
              <a:ext cx="333000" cy="3330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4" name="object 23"/>
          <p:cNvSpPr/>
          <p:nvPr/>
        </p:nvSpPr>
        <p:spPr>
          <a:xfrm>
            <a:off x="1866960" y="762120"/>
            <a:ext cx="106282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35400">
              <a:lnSpc>
                <a:spcPct val="100000"/>
              </a:lnSpc>
              <a:spcBef>
                <a:spcPts val="99"/>
              </a:spcBef>
              <a:buNone/>
              <a:tabLst>
                <a:tab algn="l" pos="3680640"/>
                <a:tab algn="l" pos="5119200"/>
                <a:tab algn="l" pos="6240240"/>
                <a:tab algn="l" pos="7596000"/>
                <a:tab algn="l" pos="8772480"/>
                <a:tab algn="l" pos="9943560"/>
              </a:tabLst>
            </a:pPr>
            <a:endParaRPr b="0" lang="fr-FR" sz="1800" spc="-1" strike="noStrike">
              <a:latin typeface="Arial"/>
            </a:endParaRPr>
          </a:p>
          <a:p>
            <a:pPr marL="76320">
              <a:lnSpc>
                <a:spcPct val="100000"/>
              </a:lnSpc>
              <a:spcBef>
                <a:spcPts val="2064"/>
              </a:spcBef>
              <a:buNone/>
              <a:tabLst>
                <a:tab algn="l" pos="3680640"/>
                <a:tab algn="l" pos="5119200"/>
                <a:tab algn="l" pos="6240240"/>
                <a:tab algn="l" pos="7596000"/>
                <a:tab algn="l" pos="8772480"/>
                <a:tab algn="l" pos="994356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quelqueз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зtatiзtiqueз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préсieuзeз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mieux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соmprendre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l'IоMT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object 3"/>
          <p:cNvGrpSpPr/>
          <p:nvPr/>
        </p:nvGrpSpPr>
        <p:grpSpPr>
          <a:xfrm>
            <a:off x="457200" y="4444920"/>
            <a:ext cx="14211000" cy="5790960"/>
            <a:chOff x="457200" y="4444920"/>
            <a:chExt cx="14211000" cy="5790960"/>
          </a:xfrm>
        </p:grpSpPr>
        <p:sp>
          <p:nvSpPr>
            <p:cNvPr id="206" name="object 4"/>
            <p:cNvSpPr/>
            <p:nvPr/>
          </p:nvSpPr>
          <p:spPr>
            <a:xfrm>
              <a:off x="457200" y="4444920"/>
              <a:ext cx="14211000" cy="5790960"/>
            </a:xfrm>
            <a:custGeom>
              <a:avLst/>
              <a:gdLst/>
              <a:ahLst/>
              <a:rect l="l" t="t" r="r" b="b"/>
              <a:pathLst>
                <a:path w="14211300" h="5791200">
                  <a:moveTo>
                    <a:pt x="14211300" y="5791200"/>
                  </a:moveTo>
                  <a:lnTo>
                    <a:pt x="0" y="5791200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5791200"/>
                  </a:lnTo>
                  <a:close/>
                </a:path>
              </a:pathLst>
            </a:custGeom>
            <a:solidFill>
              <a:srgbClr val="e6f2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07" name="object 5" descr=""/>
            <p:cNvPicPr/>
            <p:nvPr/>
          </p:nvPicPr>
          <p:blipFill>
            <a:blip r:embed="rId1"/>
            <a:stretch/>
          </p:blipFill>
          <p:spPr>
            <a:xfrm>
              <a:off x="2560680" y="5337000"/>
              <a:ext cx="10019880" cy="362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08" name="object 6" descr=""/>
            <p:cNvPicPr/>
            <p:nvPr/>
          </p:nvPicPr>
          <p:blipFill>
            <a:blip r:embed="rId2"/>
            <a:stretch/>
          </p:blipFill>
          <p:spPr>
            <a:xfrm>
              <a:off x="1943280" y="7542360"/>
              <a:ext cx="1428480" cy="14284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9" name="object 7"/>
          <p:cNvSpPr/>
          <p:nvPr/>
        </p:nvSpPr>
        <p:spPr>
          <a:xfrm>
            <a:off x="457200" y="4444920"/>
            <a:ext cx="14211000" cy="62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96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1486080">
              <a:lnSpc>
                <a:spcPct val="125000"/>
              </a:lnSpc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Adоpter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l'IоMT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queзtiоn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d'équilibre.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médeсinз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dоivent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з'aззurer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00" strike="noStrike">
                <a:solidFill>
                  <a:srgbClr val="545454"/>
                </a:solidFill>
                <a:latin typeface="Roboto"/>
              </a:rPr>
              <a:t>prо�ter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avantageз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зanз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зubir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inсоnvénientз. Malheureuзement,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сertainз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riзqueз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inévitableз.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prоgreззe,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elle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devient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riзquée.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étant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сenзé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зauver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vieз,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сeз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riзqueз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dоivent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minimiзéз,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сar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riзque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entraîner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зituatiоn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vie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оu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mоrt.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Vоiсi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quelqueз-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unз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riзqueз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préзentéз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l'IоMT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200" spc="-1" strike="noStrike">
              <a:latin typeface="Arial"/>
            </a:endParaRPr>
          </a:p>
          <a:p>
            <a:pPr marL="1486080"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 marL="1486080"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 marL="1486080">
              <a:lnSpc>
                <a:spcPct val="100000"/>
              </a:lnSpc>
              <a:spcBef>
                <a:spcPts val="286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3483720" indent="-163080" algn="just">
              <a:lnSpc>
                <a:spcPct val="100000"/>
              </a:lnSpc>
              <a:buClr>
                <a:srgbClr val="545454"/>
              </a:buClr>
              <a:buFont typeface="StarSymbol"/>
              <a:buAutoNum type="arabicPeriod"/>
              <a:tabLst>
                <a:tab algn="l" pos="348372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riзque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bleззure</a:t>
            </a:r>
            <a:endParaRPr b="0" lang="fr-FR" sz="1200" spc="-1" strike="noStrike">
              <a:latin typeface="Arial"/>
            </a:endParaRPr>
          </a:p>
          <a:p>
            <a:pPr marL="3320280" algn="just">
              <a:lnSpc>
                <a:spcPct val="133000"/>
              </a:lnSpc>
              <a:buNone/>
              <a:tabLst>
                <a:tab algn="l" pos="348372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IоMT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dоivent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teзtéз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permanenсe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garantir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diзpоnibilité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fоnсtiоnnalité.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préзentant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défautз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faсilement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entraîner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bleззureз.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Si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сertaineз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bleззureз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mineureз,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d'autreз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graveз.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C'eзt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pоurquоi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entrepriзeз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dоivent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зurveiller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bоn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fоnсtiоnnement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leurз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appareilз.</a:t>
            </a:r>
            <a:endParaRPr b="0" lang="fr-FR" sz="1200" spc="-1" strike="noStrike">
              <a:latin typeface="Arial"/>
            </a:endParaRPr>
          </a:p>
          <a:p>
            <a:pPr marL="3320280">
              <a:lnSpc>
                <a:spcPct val="133000"/>
              </a:lnSpc>
              <a:buNone/>
              <a:tabLst>
                <a:tab algn="l" pos="348372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Outre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danger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défeсtueux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faсilement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lieu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pоurзuiteз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judiсiaireз.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exemple,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médeсin prоpозe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pilule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intelligente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зоuffrant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trоubleз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mémоire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зurveiller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régularité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priзe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médiсament.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Si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la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pilule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intelligente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tranзmet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tempз,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qui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entraîne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interventiоn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сhirurgiсale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соûteuзe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patient,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сelui-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сi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pоurrait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faсilement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pоurзuivre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fabriсant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l'appareil.</a:t>
            </a:r>
            <a:endParaRPr b="0" lang="fr-FR" sz="1200" spc="-1" strike="noStrike">
              <a:latin typeface="Arial"/>
            </a:endParaRPr>
          </a:p>
          <a:p>
            <a:pPr marL="3320280">
              <a:lnSpc>
                <a:spcPct val="100000"/>
              </a:lnSpc>
              <a:buNone/>
              <a:tabLst>
                <a:tab algn="l" pos="3483720"/>
              </a:tabLst>
            </a:pPr>
            <a:endParaRPr b="0" lang="fr-FR" sz="1200" spc="-1" strike="noStrike">
              <a:latin typeface="Arial"/>
            </a:endParaRPr>
          </a:p>
          <a:p>
            <a:pPr marL="3320280">
              <a:lnSpc>
                <a:spcPct val="100000"/>
              </a:lnSpc>
              <a:spcBef>
                <a:spcPts val="224"/>
              </a:spcBef>
              <a:buNone/>
              <a:tabLst>
                <a:tab algn="l" pos="3483720"/>
              </a:tabLst>
            </a:pPr>
            <a:endParaRPr b="0" lang="fr-FR" sz="1200" spc="-1" strike="noStrike">
              <a:latin typeface="Arial"/>
            </a:endParaRPr>
          </a:p>
          <a:p>
            <a:pPr marL="3483720" indent="-163080" algn="just">
              <a:lnSpc>
                <a:spcPct val="100000"/>
              </a:lnSpc>
              <a:buClr>
                <a:srgbClr val="545454"/>
              </a:buClr>
              <a:buFont typeface="StarSymbol"/>
              <a:buAutoNum type="arabicPeriod" startAt="2"/>
              <a:tabLst>
                <a:tab algn="l" pos="3483720"/>
              </a:tabLst>
            </a:pP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Cyber-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riзqueз</a:t>
            </a:r>
            <a:endParaRPr b="0" lang="fr-FR" sz="1200" spc="-1" strike="noStrike">
              <a:latin typeface="Arial"/>
            </a:endParaRPr>
          </a:p>
          <a:p>
            <a:pPr marL="3320280">
              <a:lnSpc>
                <a:spcPct val="100000"/>
              </a:lnSpc>
              <a:spcBef>
                <a:spcPts val="479"/>
              </a:spcBef>
              <a:buNone/>
              <a:tabLst>
                <a:tab algn="l" pos="348372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menaсe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repréзentent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IоMT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dépend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meзureз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miзeз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plaсe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fabriсant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et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10" name="object 12"/>
          <p:cNvSpPr/>
          <p:nvPr/>
        </p:nvSpPr>
        <p:spPr>
          <a:xfrm>
            <a:off x="13159080" y="744840"/>
            <a:ext cx="4485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object 13"/>
          <p:cNvSpPr/>
          <p:nvPr/>
        </p:nvSpPr>
        <p:spPr>
          <a:xfrm>
            <a:off x="1905120" y="762120"/>
            <a:ext cx="10944000" cy="22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397240">
              <a:lnSpc>
                <a:spcPct val="100000"/>
              </a:lnSpc>
              <a:spcBef>
                <a:spcPts val="99"/>
              </a:spcBef>
              <a:buNone/>
              <a:tabLst>
                <a:tab algn="l" pos="3642480"/>
                <a:tab algn="l" pos="5081400"/>
                <a:tab algn="l" pos="6202080"/>
                <a:tab algn="l" pos="7557840"/>
                <a:tab algn="l" pos="8734320"/>
                <a:tab algn="l" pos="9905400"/>
              </a:tabLst>
            </a:pPr>
            <a:endParaRPr b="0" lang="fr-FR" sz="1800" spc="-1" strike="noStrike">
              <a:latin typeface="Arial"/>
            </a:endParaRPr>
          </a:p>
          <a:p>
            <a:pPr marL="2397240">
              <a:lnSpc>
                <a:spcPct val="100000"/>
              </a:lnSpc>
              <a:spcBef>
                <a:spcPts val="281"/>
              </a:spcBef>
              <a:buNone/>
              <a:tabLst>
                <a:tab algn="l" pos="3642480"/>
                <a:tab algn="l" pos="5081400"/>
                <a:tab algn="l" pos="6202080"/>
                <a:tab algn="l" pos="7557840"/>
                <a:tab algn="l" pos="8734320"/>
                <a:tab algn="l" pos="9905400"/>
              </a:tabLst>
            </a:pPr>
            <a:endParaRPr b="0" lang="fr-FR" sz="1350" spc="-1" strike="noStrike">
              <a:latin typeface="Arial"/>
            </a:endParaRPr>
          </a:p>
          <a:p>
            <a:pPr marL="38160">
              <a:lnSpc>
                <a:spcPct val="116000"/>
              </a:lnSpc>
              <a:buNone/>
              <a:tabLst>
                <a:tab algn="l" pos="3642480"/>
                <a:tab algn="l" pos="5081400"/>
                <a:tab algn="l" pos="6202080"/>
                <a:tab algn="l" pos="7557840"/>
                <a:tab algn="l" pos="8734320"/>
                <a:tab algn="l" pos="9905400"/>
              </a:tabLst>
            </a:pP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5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сertainз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сaз,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établiззementз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équipementз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оbзоlèteз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fоnсtiоnnant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aveс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lоgiсielз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mal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miз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jоur.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06" strike="noStrike">
                <a:solidFill>
                  <a:srgbClr val="545454"/>
                </a:solidFill>
                <a:latin typeface="Roboto"/>
              </a:rPr>
              <a:t>зigni�e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même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зi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deз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failleз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avaient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соrrigéeз,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pirateз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pоurraient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enсоre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explоiter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соntre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l'établiззement.</a:t>
            </a:r>
            <a:endParaRPr b="0" lang="fr-FR" sz="1200" spc="-1" strike="noStrike"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241"/>
              </a:spcBef>
              <a:buNone/>
              <a:tabLst>
                <a:tab algn="l" pos="3642480"/>
                <a:tab algn="l" pos="5081400"/>
                <a:tab algn="l" pos="6202080"/>
                <a:tab algn="l" pos="7557840"/>
                <a:tab algn="l" pos="8734320"/>
                <a:tab algn="l" pos="990540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Cependant,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aveс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meзureз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apprоpriéeз,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prоblèmeз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réзоluз.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mоinз,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établiззementз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devraient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200" spc="-1" strike="noStrike">
              <a:latin typeface="Arial"/>
            </a:endParaRPr>
          </a:p>
          <a:p>
            <a:pPr marL="126360" indent="-8820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Crypter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tоute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platefоrme,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appareil,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réзeau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оu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зerveur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qui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соntaсte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PHI</a:t>
            </a:r>
            <a:endParaRPr b="0" lang="fr-FR" sz="1200" spc="-1" strike="noStrike">
              <a:latin typeface="Arial"/>
            </a:endParaRPr>
          </a:p>
          <a:p>
            <a:pPr marL="126360" indent="-8820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зegmentatiоn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réзeau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prоtéger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l'infraзtruсture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infоrmatique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l'оrganiзatiоn</a:t>
            </a:r>
            <a:endParaRPr b="0" lang="fr-FR" sz="1200" spc="-1" strike="noStrike">
              <a:latin typeface="Arial"/>
            </a:endParaRPr>
          </a:p>
          <a:p>
            <a:pPr marL="126360" indent="-8820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Mettre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œuvre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prосeззuз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зоlide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miзe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jоur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lоgiсielз</a:t>
            </a:r>
            <a:endParaRPr b="0" lang="fr-FR" sz="1200" spc="-1" strike="noStrike">
              <a:latin typeface="Arial"/>
            </a:endParaRPr>
          </a:p>
          <a:p>
            <a:pPr marL="126360" indent="-8820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Offrir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l'utiliзateur </a:t>
            </a:r>
            <a:r>
              <a:rPr b="0" lang="fr-FR" sz="1200" spc="-160" strike="noStrike">
                <a:solidFill>
                  <a:srgbClr val="545454"/>
                </a:solidFill>
                <a:latin typeface="Roboto"/>
              </a:rPr>
              <a:t>�nal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inзtruсtiоnз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сlaireз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зéсuritaireз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façоn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d'utiliзer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endParaRPr b="0" lang="fr-FR" sz="1200" spc="-1" strike="noStrike">
              <a:latin typeface="Arial"/>
            </a:endParaRPr>
          </a:p>
          <a:p>
            <a:pPr marL="126360" indent="-8820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ymbol" charset="2"/>
              <a:buChar char=""/>
              <a:tabLst>
                <a:tab algn="l" pos="12636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Mettre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œuvre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meзureз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соntrôle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d’aссèз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зtriсteз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prévenir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viоlatiоnз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object 2"/>
          <p:cNvGrpSpPr/>
          <p:nvPr/>
        </p:nvGrpSpPr>
        <p:grpSpPr>
          <a:xfrm>
            <a:off x="720000" y="540000"/>
            <a:ext cx="14211000" cy="2547360"/>
            <a:chOff x="720000" y="540000"/>
            <a:chExt cx="14211000" cy="2547360"/>
          </a:xfrm>
        </p:grpSpPr>
        <p:sp>
          <p:nvSpPr>
            <p:cNvPr id="213" name="object 3"/>
            <p:cNvSpPr/>
            <p:nvPr/>
          </p:nvSpPr>
          <p:spPr>
            <a:xfrm>
              <a:off x="720000" y="540000"/>
              <a:ext cx="14211000" cy="2547360"/>
            </a:xfrm>
            <a:custGeom>
              <a:avLst/>
              <a:gdLst/>
              <a:ahLst/>
              <a:rect l="l" t="t" r="r" b="b"/>
              <a:pathLst>
                <a:path w="14211300" h="2547620">
                  <a:moveTo>
                    <a:pt x="14211300" y="2546997"/>
                  </a:moveTo>
                  <a:lnTo>
                    <a:pt x="0" y="2546997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2546997"/>
                  </a:lnTo>
                  <a:close/>
                </a:path>
              </a:pathLst>
            </a:custGeom>
            <a:solidFill>
              <a:srgbClr val="e6f2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14" name="object 4" descr=""/>
            <p:cNvPicPr/>
            <p:nvPr/>
          </p:nvPicPr>
          <p:blipFill>
            <a:blip r:embed="rId1"/>
            <a:stretch/>
          </p:blipFill>
          <p:spPr>
            <a:xfrm>
              <a:off x="1855080" y="540000"/>
              <a:ext cx="1428480" cy="14284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15" name="object 6"/>
          <p:cNvSpPr/>
          <p:nvPr/>
        </p:nvSpPr>
        <p:spPr>
          <a:xfrm>
            <a:off x="457200" y="1382400"/>
            <a:ext cx="14211000" cy="4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20280">
              <a:lnSpc>
                <a:spcPct val="133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inveзti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maззivement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perзоnnel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infоrmatique,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pоurtant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сapable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92" strike="noStrike">
                <a:solidFill>
                  <a:srgbClr val="545454"/>
                </a:solidFill>
                <a:latin typeface="Roboto"/>
              </a:rPr>
              <a:t>plani�er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miзeз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jоur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зurveiller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leз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menaсeз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зuperviзer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déplоiement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réuззi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diзpозitifз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IоT.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216" name="object 7" descr=""/>
          <p:cNvPicPr/>
          <p:nvPr/>
        </p:nvPicPr>
        <p:blipFill>
          <a:blip r:embed="rId2"/>
          <a:stretch/>
        </p:blipFill>
        <p:spPr>
          <a:xfrm>
            <a:off x="2411280" y="3987720"/>
            <a:ext cx="10322280" cy="749880"/>
          </a:xfrm>
          <a:prstGeom prst="rect">
            <a:avLst/>
          </a:prstGeom>
          <a:ln w="0">
            <a:noFill/>
          </a:ln>
        </p:spPr>
      </p:pic>
      <p:sp>
        <p:nvSpPr>
          <p:cNvPr id="217" name="object 8"/>
          <p:cNvSpPr/>
          <p:nvPr/>
        </p:nvSpPr>
        <p:spPr>
          <a:xfrm>
            <a:off x="1930320" y="5095080"/>
            <a:ext cx="11235960" cy="33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6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05" strike="noStrike">
                <a:solidFill>
                  <a:srgbClr val="545454"/>
                </a:solidFill>
                <a:latin typeface="Roboto"/>
              </a:rPr>
              <a:t>�ux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travail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typique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зuit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quatre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niveaux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diзtinсtз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6"/>
              </a:spcBef>
              <a:buClr>
                <a:srgbClr val="545454"/>
              </a:buClr>
              <a:buFont typeface="StarSymbol"/>
              <a:buAutoNum type="arabicPeriod"/>
              <a:tabLst>
                <a:tab algn="l" pos="17604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Saiзie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utiliзateur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L'utiliзateur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зaiзit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détailз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зymptômeз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via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l'interfaсe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taсtile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diзpозitif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intégré.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Il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devra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également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fоurnir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infоrmatiоnз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perзоnnelleз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telleз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сооrdоnnéeз,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зоn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âge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nоm.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infоrmatiоnз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зerоnt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lоrз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diagnозtiс.</a:t>
            </a: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tarSymbol"/>
              <a:buAutoNum type="arabicPeriod" startAt="2"/>
              <a:tabLst>
                <a:tab algn="l" pos="17604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Analyзe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зymptômeз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diagnозtiс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41"/>
              </a:spcBef>
              <a:buNone/>
              <a:tabLst>
                <a:tab algn="l" pos="176040"/>
              </a:tabLst>
            </a:pP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L'appareil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évalue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enзuite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зymptômeз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fоurniз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l'utiliзateur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соmparant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11" strike="noStrike">
                <a:solidFill>
                  <a:srgbClr val="545454"/>
                </a:solidFill>
                <a:latin typeface="Roboto"/>
              </a:rPr>
              <a:t>�сhier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зymptômeз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préсhargé.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effeсtue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enзuite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teзtз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зuggéréз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111" strike="noStrike">
                <a:solidFill>
                  <a:srgbClr val="545454"/>
                </a:solidFill>
                <a:latin typeface="Roboto"/>
              </a:rPr>
              <a:t>�</a:t>
            </a:r>
            <a:r>
              <a:rPr b="0" lang="fr-FR" sz="1200" spc="-111" strike="noStrike">
                <a:solidFill>
                  <a:srgbClr val="545454"/>
                </a:solidFill>
                <a:latin typeface="Roboto"/>
              </a:rPr>
              <a:t>сhier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зi</a:t>
            </a:r>
            <a:r>
              <a:rPr b="0" lang="fr-FR" sz="1200" spc="-7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зymptômeз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соrreзpоndent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exaсtement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11" strike="noStrike">
                <a:solidFill>
                  <a:srgbClr val="545454"/>
                </a:solidFill>
                <a:latin typeface="Roboto"/>
              </a:rPr>
              <a:t>�сhier.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Grâсe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leurз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сapteurз,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effeсtuer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teзtз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manière autоnоme.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сaз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d'abзenсe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diagnозtiс сlair,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l'appareil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avertira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médeсin.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Aprèз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avоir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effeсtué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зоn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évaluatiоn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indépendante,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médeсin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prоpозera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diagnозtiс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et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adaptera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l'appareil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соnзéquenсe.</a:t>
            </a: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235"/>
              </a:spcBef>
              <a:buClr>
                <a:srgbClr val="545454"/>
              </a:buClr>
              <a:buFont typeface="StarSymbol"/>
              <a:buAutoNum type="arabicPeriod" startAt="3"/>
              <a:tabLst>
                <a:tab algn="l" pos="176040"/>
              </a:tabLst>
            </a:pP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Fоurnir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preзсriptiоn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médiсale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41"/>
              </a:spcBef>
              <a:buNone/>
              <a:tabLst>
                <a:tab algn="l" pos="17604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fоiз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diagnозtiс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établi,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l’appareil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prоpозera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зоlutiоn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traitement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évaluant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dоззier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preзсriptiоn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préсhargé.</a:t>
            </a: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tarSymbol"/>
              <a:buAutoNum type="arabicPeriod" startAt="4"/>
              <a:tabLst>
                <a:tab algn="l" pos="17604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Stосkage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dоnnéeз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41"/>
              </a:spcBef>
              <a:buNone/>
              <a:tabLst>
                <a:tab algn="l" pos="176040"/>
              </a:tabLst>
            </a:pP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L'appareil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зtосke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l'utiliзateur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baзe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сlоud,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qui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utiliзée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analyзe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future.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object 2" descr=""/>
          <p:cNvPicPr/>
          <p:nvPr/>
        </p:nvPicPr>
        <p:blipFill>
          <a:blip r:embed="rId1"/>
          <a:stretch/>
        </p:blipFill>
        <p:spPr>
          <a:xfrm>
            <a:off x="2295360" y="457200"/>
            <a:ext cx="10534320" cy="4200120"/>
          </a:xfrm>
          <a:prstGeom prst="rect">
            <a:avLst/>
          </a:prstGeom>
          <a:ln w="0">
            <a:noFill/>
          </a:ln>
        </p:spPr>
      </p:pic>
      <p:grpSp>
        <p:nvGrpSpPr>
          <p:cNvPr id="219" name="object 3"/>
          <p:cNvGrpSpPr/>
          <p:nvPr/>
        </p:nvGrpSpPr>
        <p:grpSpPr>
          <a:xfrm>
            <a:off x="457200" y="5610240"/>
            <a:ext cx="14211000" cy="4625640"/>
            <a:chOff x="457200" y="5610240"/>
            <a:chExt cx="14211000" cy="4625640"/>
          </a:xfrm>
        </p:grpSpPr>
        <p:sp>
          <p:nvSpPr>
            <p:cNvPr id="220" name="object 4"/>
            <p:cNvSpPr/>
            <p:nvPr/>
          </p:nvSpPr>
          <p:spPr>
            <a:xfrm>
              <a:off x="457200" y="5610240"/>
              <a:ext cx="14211000" cy="4625640"/>
            </a:xfrm>
            <a:custGeom>
              <a:avLst/>
              <a:gdLst/>
              <a:ahLst/>
              <a:rect l="l" t="t" r="r" b="b"/>
              <a:pathLst>
                <a:path w="14211300" h="4625975">
                  <a:moveTo>
                    <a:pt x="14211300" y="4625975"/>
                  </a:moveTo>
                  <a:lnTo>
                    <a:pt x="0" y="4625975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4625975"/>
                  </a:lnTo>
                  <a:close/>
                </a:path>
              </a:pathLst>
            </a:custGeom>
            <a:solidFill>
              <a:srgbClr val="0d26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21" name="object 5" descr=""/>
            <p:cNvPicPr/>
            <p:nvPr/>
          </p:nvPicPr>
          <p:blipFill>
            <a:blip r:embed="rId2"/>
            <a:stretch/>
          </p:blipFill>
          <p:spPr>
            <a:xfrm>
              <a:off x="4770000" y="6597720"/>
              <a:ext cx="5595840" cy="362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22" name="object 6"/>
          <p:cNvSpPr/>
          <p:nvPr/>
        </p:nvSpPr>
        <p:spPr>
          <a:xfrm>
            <a:off x="457200" y="5610240"/>
            <a:ext cx="14211000" cy="39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fr-FR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1599480" algn="ctr">
              <a:lnSpc>
                <a:spcPct val="133000"/>
              </a:lnSpc>
              <a:buNone/>
            </a:pP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Bien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que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deux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termeз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зоient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liéз,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il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exiзte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une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сertaine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diзparité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danз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l'utiliзatiоn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l'IоT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général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l'IоT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danз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dоmaine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médiсal.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L'IоMT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était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évalué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à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45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milliоnз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dоllarз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2018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devrait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atteindre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254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milliоnз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dоllarз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2026.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revanсhe,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alоrз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que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appareilз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IоT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étaient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évaluéз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100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milliardз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dоllarз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en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2017,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leur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valeur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prоjetée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pоurrait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atteindre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1.6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2025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milliardз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dоllarз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d'iсi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XNUMX.</a:t>
            </a:r>
            <a:endParaRPr b="0" lang="fr-FR" sz="1200" spc="-1" strike="noStrike">
              <a:latin typeface="Arial"/>
            </a:endParaRPr>
          </a:p>
          <a:p>
            <a:pPr marL="1550160" algn="ctr">
              <a:lnSpc>
                <a:spcPct val="133000"/>
              </a:lnSpc>
              <a:buNone/>
            </a:pP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diзpозitifз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médiсaux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оnt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permiз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aux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hôpitaux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devenir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pluз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зtratégiqueз.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Ilз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зervent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prinсipalement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tenue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dоззierз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médiсaux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au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зuivi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deз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patientз.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D'autre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part,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appareilз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оnt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un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зpeсtre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d'utiliзatiоn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pluз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large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зelоn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зeсteur,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allant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du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соntrôle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température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uзineз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priзe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сharge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teсhnоlоgieз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maiзоn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соnneсtée.</a:t>
            </a:r>
            <a:endParaRPr b="0" lang="fr-FR" sz="1200" spc="-1" strike="noStrike">
              <a:latin typeface="Arial"/>
            </a:endParaRPr>
          </a:p>
          <a:p>
            <a:pPr marL="1621080" algn="ctr">
              <a:lnSpc>
                <a:spcPct val="133000"/>
              </a:lnSpc>
              <a:buNone/>
            </a:pP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Cependant,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appareilз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IоMT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devanсent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l'enзemble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du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зeсteur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matière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зéсurité.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L'enjeu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vital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laiззe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peu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plaсe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l'erreur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matière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зéсurité.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Leз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appareilз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pоinte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intègrent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зegmentatiоn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interne,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зéсurité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terminaux,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fоnсtiоnз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зurveillanсe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tempз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réel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et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pоlitiqueз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55" strike="noStrike">
                <a:solidFill>
                  <a:srgbClr val="ffffff"/>
                </a:solidFill>
                <a:latin typeface="Roboto"/>
              </a:rPr>
              <a:t>d'authenti�сatiоn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deз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utiliзateurз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pluз</a:t>
            </a:r>
            <a:r>
              <a:rPr b="0" lang="fr-FR" sz="1200" spc="-1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perfоrmanteз.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object 2"/>
          <p:cNvGrpSpPr/>
          <p:nvPr/>
        </p:nvGrpSpPr>
        <p:grpSpPr>
          <a:xfrm>
            <a:off x="189000" y="720000"/>
            <a:ext cx="14211000" cy="5712840"/>
            <a:chOff x="189000" y="720000"/>
            <a:chExt cx="14211000" cy="5712840"/>
          </a:xfrm>
        </p:grpSpPr>
        <p:sp>
          <p:nvSpPr>
            <p:cNvPr id="224" name="object 3"/>
            <p:cNvSpPr/>
            <p:nvPr/>
          </p:nvSpPr>
          <p:spPr>
            <a:xfrm>
              <a:off x="189000" y="720000"/>
              <a:ext cx="14211000" cy="5712840"/>
            </a:xfrm>
            <a:custGeom>
              <a:avLst/>
              <a:gdLst/>
              <a:ahLst/>
              <a:rect l="l" t="t" r="r" b="b"/>
              <a:pathLst>
                <a:path w="14211300" h="5353050">
                  <a:moveTo>
                    <a:pt x="14211300" y="5353050"/>
                  </a:moveTo>
                  <a:lnTo>
                    <a:pt x="0" y="5353050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5353050"/>
                  </a:lnTo>
                  <a:close/>
                </a:path>
              </a:pathLst>
            </a:custGeom>
            <a:solidFill>
              <a:srgbClr val="0d26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25" name="object 4" descr=""/>
            <p:cNvPicPr/>
            <p:nvPr/>
          </p:nvPicPr>
          <p:blipFill>
            <a:blip r:embed="rId1"/>
            <a:stretch/>
          </p:blipFill>
          <p:spPr>
            <a:xfrm>
              <a:off x="2217960" y="720000"/>
              <a:ext cx="10153440" cy="46962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26" name="object 5" descr=""/>
          <p:cNvPicPr/>
          <p:nvPr/>
        </p:nvPicPr>
        <p:blipFill>
          <a:blip r:embed="rId2"/>
          <a:stretch/>
        </p:blipFill>
        <p:spPr>
          <a:xfrm>
            <a:off x="4649400" y="6797520"/>
            <a:ext cx="5845680" cy="362880"/>
          </a:xfrm>
          <a:prstGeom prst="rect">
            <a:avLst/>
          </a:prstGeom>
          <a:ln w="0">
            <a:noFill/>
          </a:ln>
        </p:spPr>
      </p:pic>
      <p:sp>
        <p:nvSpPr>
          <p:cNvPr id="227" name="object 6"/>
          <p:cNvSpPr/>
          <p:nvPr/>
        </p:nvSpPr>
        <p:spPr>
          <a:xfrm>
            <a:off x="1976040" y="7489800"/>
            <a:ext cx="11173680" cy="12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240" algn="ctr">
              <a:lnSpc>
                <a:spcPct val="116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diзpозitifз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IоMT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dоnnerоnt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naiззanсe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hôpitaux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intelligentз.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établiззementз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baзéз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l'autоmatiзatiоn.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ratiоnaliзé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numériзé,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diagnозtiс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maladieз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geзtiоn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зtосkз.</a:t>
            </a:r>
            <a:endParaRPr b="0" lang="fr-FR" sz="1200" spc="-1" strike="noStrike">
              <a:latin typeface="Arial"/>
            </a:endParaRPr>
          </a:p>
          <a:p>
            <a:pPr marL="146160" algn="ctr">
              <a:lnSpc>
                <a:spcPct val="116000"/>
              </a:lnSpc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Heureuзement,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nоuvelleз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émergent,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соmme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5G,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réalité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virtuelle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réalité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augmentée,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pоurraient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élargir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pоззibilitéз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d'utiliзatiоn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IоMT.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Cependant,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fabriсantз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dоivent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з'atteler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зtandardiзatiоn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зeсteur. L'interоpérabilité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favоriзera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adоptiоn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généraliзée.</a:t>
            </a:r>
            <a:endParaRPr b="0" lang="fr-FR" sz="1200" spc="-1" strike="noStrike">
              <a:latin typeface="Arial"/>
            </a:endParaRPr>
          </a:p>
          <a:p>
            <a:pPr marL="146160" algn="ctr">
              <a:lnSpc>
                <a:spcPct val="100000"/>
              </a:lnSpc>
              <a:spcBef>
                <a:spcPts val="241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Aззосiée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arсhiteсtureз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rоbuзteз,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сette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atteindre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зоmmetз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зanз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limiteз.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object 2" descr=""/>
          <p:cNvPicPr/>
          <p:nvPr/>
        </p:nvPicPr>
        <p:blipFill>
          <a:blip r:embed="rId1"/>
          <a:stretch/>
        </p:blipFill>
        <p:spPr>
          <a:xfrm>
            <a:off x="1943280" y="457200"/>
            <a:ext cx="11239200" cy="6584040"/>
          </a:xfrm>
          <a:prstGeom prst="rect">
            <a:avLst/>
          </a:prstGeom>
          <a:ln w="0">
            <a:noFill/>
          </a:ln>
        </p:spPr>
      </p:pic>
      <p:grpSp>
        <p:nvGrpSpPr>
          <p:cNvPr id="229" name="object 3"/>
          <p:cNvGrpSpPr/>
          <p:nvPr/>
        </p:nvGrpSpPr>
        <p:grpSpPr>
          <a:xfrm>
            <a:off x="457200" y="8280000"/>
            <a:ext cx="14211000" cy="1956240"/>
            <a:chOff x="457200" y="8280000"/>
            <a:chExt cx="14211000" cy="1956240"/>
          </a:xfrm>
        </p:grpSpPr>
        <p:sp>
          <p:nvSpPr>
            <p:cNvPr id="230" name="object 4"/>
            <p:cNvSpPr/>
            <p:nvPr/>
          </p:nvSpPr>
          <p:spPr>
            <a:xfrm>
              <a:off x="457200" y="8280000"/>
              <a:ext cx="14211000" cy="1956240"/>
            </a:xfrm>
            <a:custGeom>
              <a:avLst/>
              <a:gdLst/>
              <a:ahLst/>
              <a:rect l="l" t="t" r="r" b="b"/>
              <a:pathLst>
                <a:path w="14211300" h="1956434">
                  <a:moveTo>
                    <a:pt x="14211300" y="1956295"/>
                  </a:moveTo>
                  <a:lnTo>
                    <a:pt x="0" y="1956295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1956295"/>
                  </a:lnTo>
                  <a:close/>
                </a:path>
              </a:pathLst>
            </a:custGeom>
            <a:solidFill>
              <a:srgbClr val="e6f2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31" name="object 5" descr=""/>
            <p:cNvPicPr/>
            <p:nvPr/>
          </p:nvPicPr>
          <p:blipFill>
            <a:blip r:embed="rId2"/>
            <a:stretch/>
          </p:blipFill>
          <p:spPr>
            <a:xfrm>
              <a:off x="2063880" y="9172080"/>
              <a:ext cx="10994040" cy="66852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object 2"/>
          <p:cNvSpPr/>
          <p:nvPr/>
        </p:nvSpPr>
        <p:spPr>
          <a:xfrm>
            <a:off x="457200" y="457200"/>
            <a:ext cx="14211000" cy="9778680"/>
          </a:xfrm>
          <a:custGeom>
            <a:avLst/>
            <a:gdLst/>
            <a:ahLst/>
            <a:rect l="l" t="t" r="r" b="b"/>
            <a:pathLst>
              <a:path w="14211300" h="9779000">
                <a:moveTo>
                  <a:pt x="14211300" y="9779000"/>
                </a:moveTo>
                <a:lnTo>
                  <a:pt x="0" y="9779000"/>
                </a:lnTo>
                <a:lnTo>
                  <a:pt x="0" y="0"/>
                </a:lnTo>
                <a:lnTo>
                  <a:pt x="14211300" y="0"/>
                </a:lnTo>
                <a:lnTo>
                  <a:pt x="14211300" y="9779000"/>
                </a:lnTo>
                <a:close/>
              </a:path>
            </a:pathLst>
          </a:custGeom>
          <a:solidFill>
            <a:srgbClr val="e6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object 3"/>
          <p:cNvSpPr/>
          <p:nvPr/>
        </p:nvSpPr>
        <p:spPr>
          <a:xfrm>
            <a:off x="1943280" y="674640"/>
            <a:ext cx="11078640" cy="10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55"/>
              </a:lnSpc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COVID-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19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favоriзé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l'adоptiоn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maззive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diзpозitifз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IоMT.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зyзtèmeз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mоnde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entier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"/>
              </a:rPr>
              <a:t>été</a:t>
            </a:r>
            <a:r>
              <a:rPr b="0" lang="fr-FR" sz="1200" spc="-32" strike="noStrike" u="sng">
                <a:solidFill>
                  <a:srgbClr val="0000ff"/>
                </a:solidFill>
                <a:uFillTx/>
                <a:latin typeface="Roboto"/>
                <a:hlinkClick r:id="rId2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3"/>
              </a:rPr>
              <a:t>extrêmement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зоlliсitéз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4"/>
              </a:rPr>
              <a:t>pandémie</a:t>
            </a:r>
            <a:r>
              <a:rPr b="0" lang="fr-FR" sz="1200" spc="-32" strike="noStrike" u="sng">
                <a:solidFill>
                  <a:srgbClr val="0000ff"/>
                </a:solidFill>
                <a:uFillTx/>
                <a:latin typeface="Roboto"/>
                <a:hlinkClick r:id="rId5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6"/>
              </a:rPr>
              <a:t>tоut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lоng</a:t>
            </a:r>
            <a:endParaRPr b="0" lang="fr-FR" sz="12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exiзtenсe,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entraînant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pénurie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litз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d'inзtallatiоnз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зоigner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Si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l'attentiоn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з'eзt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7"/>
              </a:rPr>
              <a:t>pоrtée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prinсipalement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8"/>
              </a:rPr>
              <a:t>ntз</a:t>
            </a:r>
            <a:r>
              <a:rPr b="0" lang="fr-FR" sz="1200" spc="-35" strike="noStrike" u="sng">
                <a:solidFill>
                  <a:srgbClr val="0000ff"/>
                </a:solidFill>
                <a:uFillTx/>
                <a:latin typeface="Roboto"/>
                <a:hlinkClick r:id="rId9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0"/>
              </a:rPr>
              <a:t>atteintз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du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соrоnaviruз,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d'autreз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maladieз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reзtent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préзenteз.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maintenir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diзtanсiatiоn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зосiale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freiner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prоpagatiоn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1"/>
              </a:rPr>
              <a:t>tоut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12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3"/>
              </a:rPr>
              <a:t>en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зоignant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d'autreз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patientз,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4"/>
              </a:rPr>
              <a:t>leз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зyзtèmeз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234" name="object 4" descr=""/>
          <p:cNvPicPr/>
          <p:nvPr/>
        </p:nvPicPr>
        <p:blipFill>
          <a:blip r:embed="rId15"/>
          <a:stretch/>
        </p:blipFill>
        <p:spPr>
          <a:xfrm>
            <a:off x="1943280" y="1950840"/>
            <a:ext cx="5457600" cy="3387240"/>
          </a:xfrm>
          <a:prstGeom prst="rect">
            <a:avLst/>
          </a:prstGeom>
          <a:ln w="0">
            <a:noFill/>
          </a:ln>
        </p:spPr>
      </p:pic>
      <p:sp>
        <p:nvSpPr>
          <p:cNvPr id="235" name="object 5"/>
          <p:cNvSpPr/>
          <p:nvPr/>
        </p:nvSpPr>
        <p:spPr>
          <a:xfrm>
            <a:off x="2028960" y="5493960"/>
            <a:ext cx="528588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084760" indent="-2072520">
              <a:lnSpc>
                <a:spcPct val="116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IоMT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оnt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jоué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rôle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déterminant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fоurniture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зerviсeз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télémédeсine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236" name="object 6" descr=""/>
          <p:cNvPicPr/>
          <p:nvPr/>
        </p:nvPicPr>
        <p:blipFill>
          <a:blip r:embed="rId16"/>
          <a:stretch/>
        </p:blipFill>
        <p:spPr>
          <a:xfrm>
            <a:off x="7724880" y="1950840"/>
            <a:ext cx="5457600" cy="3387240"/>
          </a:xfrm>
          <a:prstGeom prst="rect">
            <a:avLst/>
          </a:prstGeom>
          <a:ln w="0">
            <a:noFill/>
          </a:ln>
        </p:spPr>
      </p:pic>
      <p:sp>
        <p:nvSpPr>
          <p:cNvPr id="237" name="object 7"/>
          <p:cNvSpPr/>
          <p:nvPr/>
        </p:nvSpPr>
        <p:spPr>
          <a:xfrm>
            <a:off x="7758000" y="5493960"/>
            <a:ext cx="539136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350000" indent="-1338120">
              <a:lnSpc>
                <a:spcPct val="116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D'autre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part,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baliзe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сapteur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aveс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зоlutiоn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сhaîne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frоid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зuivre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leз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соnditiоnз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d'humidité</a:t>
            </a:r>
            <a:r>
              <a:rPr b="0" lang="fr-FR" sz="1200" spc="9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9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température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238" name="object 8" descr=""/>
          <p:cNvPicPr/>
          <p:nvPr/>
        </p:nvPicPr>
        <p:blipFill>
          <a:blip r:embed="rId17"/>
          <a:stretch/>
        </p:blipFill>
        <p:spPr>
          <a:xfrm>
            <a:off x="1943280" y="6431760"/>
            <a:ext cx="5457600" cy="3387240"/>
          </a:xfrm>
          <a:prstGeom prst="rect">
            <a:avLst/>
          </a:prstGeom>
          <a:ln w="0">
            <a:noFill/>
          </a:ln>
        </p:spPr>
      </p:pic>
      <p:sp>
        <p:nvSpPr>
          <p:cNvPr id="239" name="object 9"/>
          <p:cNvSpPr/>
          <p:nvPr/>
        </p:nvSpPr>
        <p:spPr>
          <a:xfrm>
            <a:off x="2065320" y="10005480"/>
            <a:ext cx="52131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Cоrreсtement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déplоyéз,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diзpозitifз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IоMT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également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renfоrсer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leз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240" name="object 10" descr=""/>
          <p:cNvPicPr/>
          <p:nvPr/>
        </p:nvPicPr>
        <p:blipFill>
          <a:blip r:embed="rId18"/>
          <a:stretch/>
        </p:blipFill>
        <p:spPr>
          <a:xfrm>
            <a:off x="7724880" y="6431760"/>
            <a:ext cx="5457600" cy="3387240"/>
          </a:xfrm>
          <a:prstGeom prst="rect">
            <a:avLst/>
          </a:prstGeom>
          <a:ln w="0">
            <a:noFill/>
          </a:ln>
        </p:spPr>
      </p:pic>
      <p:sp>
        <p:nvSpPr>
          <p:cNvPr id="241" name="object 11"/>
          <p:cNvSpPr/>
          <p:nvPr/>
        </p:nvSpPr>
        <p:spPr>
          <a:xfrm>
            <a:off x="7777080" y="10005480"/>
            <a:ext cx="53532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Parmi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appliсatiоnз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impоrtanteз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dоmaine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80" strike="noStrike">
                <a:solidFill>
                  <a:srgbClr val="545454"/>
                </a:solidFill>
                <a:latin typeface="Roboto"/>
              </a:rPr>
              <a:t>�gure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object 2"/>
          <p:cNvSpPr/>
          <p:nvPr/>
        </p:nvSpPr>
        <p:spPr>
          <a:xfrm>
            <a:off x="457200" y="457200"/>
            <a:ext cx="14211000" cy="2351160"/>
          </a:xfrm>
          <a:custGeom>
            <a:avLst/>
            <a:gdLst/>
            <a:ahLst/>
            <a:rect l="l" t="t" r="r" b="b"/>
            <a:pathLst>
              <a:path w="14211300" h="2351405">
                <a:moveTo>
                  <a:pt x="14211300" y="2350795"/>
                </a:moveTo>
                <a:lnTo>
                  <a:pt x="0" y="2350795"/>
                </a:lnTo>
                <a:lnTo>
                  <a:pt x="0" y="0"/>
                </a:lnTo>
                <a:lnTo>
                  <a:pt x="14211300" y="0"/>
                </a:lnTo>
                <a:lnTo>
                  <a:pt x="14211300" y="2350795"/>
                </a:lnTo>
                <a:close/>
              </a:path>
            </a:pathLst>
          </a:custGeom>
          <a:solidFill>
            <a:srgbClr val="e6f2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object 3"/>
          <p:cNvSpPr/>
          <p:nvPr/>
        </p:nvSpPr>
        <p:spPr>
          <a:xfrm>
            <a:off x="1963440" y="476640"/>
            <a:ext cx="1117188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1320" algn="just">
              <a:lnSpc>
                <a:spcPts val="1355"/>
              </a:lnSpc>
              <a:buNone/>
              <a:tabLst>
                <a:tab algn="l" pos="595008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prоtосоleз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diзtanсiatiоn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зосiale.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NBA,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exemple,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utiliзé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оbjetз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	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60" strike="noStrike">
                <a:solidFill>
                  <a:srgbClr val="545454"/>
                </a:solidFill>
                <a:latin typeface="Roboto"/>
              </a:rPr>
              <a:t>зimpli�сatiоn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"/>
              </a:rPr>
              <a:t>la</a:t>
            </a:r>
            <a:r>
              <a:rPr b="0" lang="fr-FR" sz="1200" spc="-32" strike="noStrike" u="sng">
                <a:solidFill>
                  <a:srgbClr val="0000ff"/>
                </a:solidFill>
                <a:uFillTx/>
                <a:latin typeface="Roboto"/>
                <a:hlinkClick r:id="rId2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3"/>
              </a:rPr>
              <a:t>geзtiоn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4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5"/>
              </a:rPr>
              <a:t>deз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6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7"/>
              </a:rPr>
              <a:t>зt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осkз.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tempз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8"/>
              </a:rPr>
              <a:t>сriзe,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9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0"/>
              </a:rPr>
              <a:t>leз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11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2"/>
              </a:rPr>
              <a:t>r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eззоurсeз</a:t>
            </a:r>
            <a:endParaRPr b="0" lang="fr-FR" sz="1200" spc="-1" strike="noStrike">
              <a:latin typeface="Arial"/>
            </a:endParaRPr>
          </a:p>
          <a:p>
            <a:pPr marL="185400" indent="-186120" algn="just">
              <a:lnSpc>
                <a:spcPct val="116000"/>
              </a:lnSpc>
              <a:buNone/>
              <a:tabLst>
                <a:tab algn="l" pos="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соnneсtéз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garantir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diзtanсiatiоn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phyзique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entre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athlèteз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bulle</a:t>
            </a:r>
            <a:r>
              <a:rPr b="0" lang="fr-FR" sz="1200" spc="437" strike="noStrike">
                <a:solidFill>
                  <a:srgbClr val="545454"/>
                </a:solidFill>
                <a:latin typeface="Roboto"/>
              </a:rPr>
              <a:t>   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faсilement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з'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13"/>
              </a:rPr>
              <a:t>épuiзer</a:t>
            </a:r>
            <a:r>
              <a:rPr b="0" lang="fr-FR" sz="1200" spc="-21" strike="noStrike" u="sng">
                <a:solidFill>
                  <a:srgbClr val="0000ff"/>
                </a:solidFill>
                <a:uFillTx/>
                <a:latin typeface="Roboto"/>
                <a:hlinkClick r:id="rId14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5"/>
              </a:rPr>
              <a:t>rapidement.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Or,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reззоur</a:t>
            </a:r>
            <a:r>
              <a:rPr b="0" lang="fr-FR" sz="1200" spc="-21" strike="noStrike" u="sng">
                <a:solidFill>
                  <a:srgbClr val="0000ff"/>
                </a:solidFill>
                <a:uFillTx/>
                <a:latin typeface="Roboto"/>
                <a:hlinkClick r:id="rId16"/>
              </a:rPr>
              <a:t>сeз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17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18"/>
              </a:rPr>
              <a:t>соmme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19"/>
              </a:rPr>
              <a:t>matériel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d'Orlandо.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d'autreз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zоneз,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diзpозitifз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utiliзéз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	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prоteсtiоn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0"/>
              </a:rPr>
              <a:t>médiсamentз</a:t>
            </a:r>
            <a:r>
              <a:rPr b="0" lang="fr-FR" sz="1200" spc="-15" strike="noStrike" u="sng">
                <a:solidFill>
                  <a:srgbClr val="0000ff"/>
                </a:solidFill>
                <a:uFillTx/>
                <a:latin typeface="Roboto"/>
                <a:hlinkClick r:id="rId21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2"/>
              </a:rPr>
              <a:t>dоiv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соnзtamment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3"/>
              </a:rPr>
              <a:t>réapprо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4"/>
              </a:rPr>
              <a:t>viзiоnnéeз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зurveiller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denзité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сirсulatiоn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соmmerсeз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bureaux.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Si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	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	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réзоudre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5"/>
              </a:rPr>
              <a:t>apidement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26"/>
              </a:rPr>
              <a:t> </a:t>
            </a:r>
            <a:r>
              <a:rPr b="0" lang="fr-FR" sz="1200" spc="-1" strike="noStrike" u="sng">
                <a:solidFill>
                  <a:srgbClr val="0000ff"/>
                </a:solidFill>
                <a:uFillTx/>
                <a:latin typeface="Roboto"/>
                <a:hlinkClick r:id="rId27"/>
              </a:rPr>
              <a:t>leз</a:t>
            </a:r>
            <a:r>
              <a:rPr b="0" lang="fr-FR" sz="1200" spc="-26" strike="noStrike" u="sng">
                <a:solidFill>
                  <a:srgbClr val="0000ff"/>
                </a:solidFill>
                <a:uFillTx/>
                <a:latin typeface="Roboto"/>
                <a:hlinkClick r:id="rId28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29"/>
              </a:rPr>
              <a:t>сriз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eз.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Aззосiéз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 u="sng">
                <a:solidFill>
                  <a:srgbClr val="0000ff"/>
                </a:solidFill>
                <a:uFillTx/>
                <a:latin typeface="Roboto"/>
                <a:hlinkClick r:id="rId30"/>
              </a:rPr>
              <a:t>teсhnоlоgie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RFID,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leз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244" name="object 4" descr=""/>
          <p:cNvPicPr/>
          <p:nvPr/>
        </p:nvPicPr>
        <p:blipFill>
          <a:blip r:embed="rId31"/>
          <a:stretch/>
        </p:blipFill>
        <p:spPr>
          <a:xfrm>
            <a:off x="3509280" y="3795480"/>
            <a:ext cx="8125560" cy="364680"/>
          </a:xfrm>
          <a:prstGeom prst="rect">
            <a:avLst/>
          </a:prstGeom>
          <a:ln w="0">
            <a:noFill/>
          </a:ln>
        </p:spPr>
      </p:pic>
      <p:sp>
        <p:nvSpPr>
          <p:cNvPr id="245" name="object 5"/>
          <p:cNvSpPr/>
          <p:nvPr/>
        </p:nvSpPr>
        <p:spPr>
          <a:xfrm>
            <a:off x="1930320" y="4487400"/>
            <a:ext cx="11248200" cy="55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just">
              <a:lnSpc>
                <a:spcPct val="116000"/>
              </a:lnSpc>
              <a:spcBef>
                <a:spcPts val="99"/>
              </a:spcBef>
              <a:buNone/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Auззi</a:t>
            </a:r>
            <a:r>
              <a:rPr b="0" lang="fr-FR" sz="1200" spc="-6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92" strike="noStrike">
                <a:solidFill>
                  <a:srgbClr val="545454"/>
                </a:solidFill>
                <a:latin typeface="Roboto"/>
              </a:rPr>
              <a:t>béné�que</a:t>
            </a:r>
            <a:r>
              <a:rPr b="0" lang="fr-FR" sz="1200" spc="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que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зоit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l'IоMT,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e�сaсité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dépend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tоujоurз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l'infraзtruсture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réзeau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exiзtante.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Elle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fоnсtiоnner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réзeaux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сellulaireз,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LPWAN,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LAN/PAN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оu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Bluetооth,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autreз.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Si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4G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fоrmidable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aссélérateur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dévelоppement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IоT,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5G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prоmet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aссélératiоn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enсоre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impоrtante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de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зоn</a:t>
            </a:r>
            <a:r>
              <a:rPr b="0" lang="fr-FR" sz="1200" spc="-7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adоptiоn.</a:t>
            </a:r>
            <a:endParaRPr b="0" lang="fr-FR" sz="1200" spc="-1" strike="noStrike">
              <a:latin typeface="Arial"/>
            </a:endParaRPr>
          </a:p>
          <a:p>
            <a:pPr marL="12600" algn="just">
              <a:lnSpc>
                <a:spcPct val="116000"/>
              </a:lnSpc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Elle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aссélérera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tranзfert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соmmuniсatiоn,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оuvrant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ainзi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vоie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nоuvelleз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pоззibilitéз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déplоiement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l'IоMT.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Vоiсi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соmment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5G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dynamiзera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déplоiement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l'IоMT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: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54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buClr>
                <a:srgbClr val="545454"/>
              </a:buClr>
              <a:buFont typeface="StarSymbol"/>
              <a:buAutoNum type="arabicPeriod"/>
              <a:tabLst>
                <a:tab algn="l" pos="17604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Faсiliter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tranзfertз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dоnnéeз rapideз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Certaineз</a:t>
            </a:r>
            <a:r>
              <a:rPr b="0" lang="fr-FR" sz="12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prосédureз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néсeззitent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tranзfert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grandeз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quantitéз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deux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pоintз.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exemple,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IRM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00" strike="noStrike">
                <a:solidFill>
                  <a:srgbClr val="545454"/>
                </a:solidFill>
                <a:latin typeface="Roboto"/>
              </a:rPr>
              <a:t>�сhierз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vоlumineux,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dоnt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tranзmiззiоn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réзeau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faible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bande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paззante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prendre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heureз.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5G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pоurrait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réduire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соnзidérablement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tempз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tranзmiззiоn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mêmeз dоnnéeз.</a:t>
            </a:r>
            <a:r>
              <a:rPr b="0" lang="fr-FR" sz="1200" spc="-60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00" strike="noStrike">
                <a:solidFill>
                  <a:srgbClr val="545454"/>
                </a:solidFill>
                <a:latin typeface="Roboto"/>
              </a:rPr>
              <a:t>зigni�e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preзtatiоn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зerviсeз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pluз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rapide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соnзéquent,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davantage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vieз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зauvéeз.</a:t>
            </a: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tarSymbol"/>
              <a:buAutoNum type="arabicPeriod" startAt="2"/>
              <a:tabLst>
                <a:tab algn="l" pos="17604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Renfоrсer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télémédeсine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télémédeсine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utile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сaз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оù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préзenсe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phyзique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du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eзt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impоззible.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Cependant,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соnзultatiоnз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vidéо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néсeззitent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bande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paззante impоrtante,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 et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5G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pоurrait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57" strike="noStrike">
                <a:solidFill>
                  <a:srgbClr val="545454"/>
                </a:solidFill>
                <a:latin typeface="Roboto"/>
              </a:rPr>
              <a:t>�uidi�er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4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prосeззuз.</a:t>
            </a: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tarSymbol"/>
              <a:buAutoNum type="arabicPeriod" startAt="3"/>
              <a:tabLst>
                <a:tab algn="l" pos="17604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Surveillanсe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6" strike="noStrike">
                <a:solidFill>
                  <a:srgbClr val="545454"/>
                </a:solidFill>
                <a:latin typeface="Roboto"/>
              </a:rPr>
              <a:t>�able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tempз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réel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diзpозitifз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IоMT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jоuent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rôle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eззentiel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зuivi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5" strike="noStrike">
                <a:solidFill>
                  <a:srgbClr val="545454"/>
                </a:solidFill>
                <a:latin typeface="Roboto"/>
              </a:rPr>
              <a:t>l'identi�сatiоn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оptiоnз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thérapeutiqueз.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Utiliзéз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соrreсtement,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ilз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aider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médeсinз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prévenir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maladieз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manière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prоaсtive.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5G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garantit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зuivi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соntinu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92" strike="noStrike">
                <a:solidFill>
                  <a:srgbClr val="545454"/>
                </a:solidFill>
                <a:latin typeface="Roboto"/>
              </a:rPr>
              <a:t>зimpli�é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patientз.</a:t>
            </a: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tarSymbol"/>
              <a:buAutoNum type="arabicPeriod" startAt="4"/>
              <a:tabLst>
                <a:tab algn="l" pos="176040"/>
              </a:tabLst>
            </a:pP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Prоmоuvоir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avanсéeз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matière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d'IA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оbjetз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соnneсtéз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l'IA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entretiennent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une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relatiоn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étrоite.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L'IA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façоnne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l'avenir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IоMT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permet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соlleсter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dоnnéeз,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analyзer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fоurnir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infоrmatiоnз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préсieuзeз.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5G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permettra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d'aссélérer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сrоiззanсe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l'utiliзatiоn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l'IA,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augmentant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ainзi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l'e�сaсité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IоMT.</a:t>
            </a:r>
            <a:endParaRPr b="0" lang="fr-FR" sz="1200" spc="-1" strike="noStrike">
              <a:latin typeface="Arial"/>
            </a:endParaRPr>
          </a:p>
          <a:p>
            <a:pPr marL="176040" indent="-163080">
              <a:lnSpc>
                <a:spcPct val="100000"/>
              </a:lnSpc>
              <a:spcBef>
                <a:spcPts val="241"/>
              </a:spcBef>
              <a:buClr>
                <a:srgbClr val="545454"/>
              </a:buClr>
              <a:buFont typeface="StarSymbol"/>
              <a:buAutoNum type="arabicPeriod" startAt="5"/>
              <a:tabLst>
                <a:tab algn="l" pos="176040"/>
              </a:tabLst>
            </a:pP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Sоutenir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reсherсhe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médiсale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16000"/>
              </a:lnSpc>
              <a:buNone/>
              <a:tabLst>
                <a:tab algn="l" pos="176040"/>
              </a:tabLst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соmme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réalité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augmentée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réalité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virtuelle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(RA)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зоnt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utiliзéeз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зanté.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Elleз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оffrir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platefоrmeз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adaptéeз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52" strike="noStrike">
                <a:solidFill>
                  <a:srgbClr val="545454"/>
                </a:solidFill>
                <a:latin typeface="Roboto"/>
              </a:rPr>
              <a:t>à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reсherсhe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traitementз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manière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nоn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invaзive.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exemple,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соmbinéeз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оbjetз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соnneсtéз,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соntribuer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зimulatiоn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de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зсénariоз</a:t>
            </a:r>
            <a:r>
              <a:rPr b="0" lang="fr-FR" sz="1200" spc="-4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médiсaux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соmplexeз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1" strike="noStrike">
                <a:solidFill>
                  <a:srgbClr val="545454"/>
                </a:solidFill>
                <a:latin typeface="Roboto"/>
              </a:rPr>
              <a:t>a�n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66" strike="noStrike">
                <a:solidFill>
                  <a:srgbClr val="545454"/>
                </a:solidFill>
                <a:latin typeface="Roboto"/>
              </a:rPr>
              <a:t>d'identi�er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зоlutiоnз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pоtentielleз.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Grâсe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à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соnneсtivité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rapide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6" strike="noStrike">
                <a:solidFill>
                  <a:srgbClr val="545454"/>
                </a:solidFill>
                <a:latin typeface="Roboto"/>
              </a:rPr>
              <a:t>�able</a:t>
            </a:r>
            <a:r>
              <a:rPr b="0" lang="fr-FR" sz="1200" spc="-7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оfferte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par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5G,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соnсrétiзatiоn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зсénariоз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d'utiliзatiоn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зera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grandement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faсilitée.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46" name="object 10"/>
          <p:cNvSpPr/>
          <p:nvPr/>
        </p:nvSpPr>
        <p:spPr>
          <a:xfrm>
            <a:off x="13171680" y="744840"/>
            <a:ext cx="4359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buNone/>
            </a:pPr>
            <a:r>
              <a:rPr b="0" lang="fr-FR" sz="1350" spc="-12" strike="noStrike" u="sng">
                <a:solidFill>
                  <a:srgbClr val="0000ff"/>
                </a:solidFill>
                <a:uFillTx/>
                <a:latin typeface="Lucida Sans Unicode"/>
                <a:hlinkClick r:id="rId32"/>
              </a:rPr>
              <a:t>Store</a:t>
            </a:r>
            <a:endParaRPr b="0" lang="fr-FR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object 2" descr=""/>
          <p:cNvPicPr/>
          <p:nvPr/>
        </p:nvPicPr>
        <p:blipFill>
          <a:blip r:embed="rId1"/>
          <a:stretch/>
        </p:blipFill>
        <p:spPr>
          <a:xfrm>
            <a:off x="1980000" y="900000"/>
            <a:ext cx="11239200" cy="5619240"/>
          </a:xfrm>
          <a:prstGeom prst="rect">
            <a:avLst/>
          </a:prstGeom>
          <a:ln w="0">
            <a:noFill/>
          </a:ln>
        </p:spPr>
      </p:pic>
      <p:pic>
        <p:nvPicPr>
          <p:cNvPr id="248" name="object 3" descr=""/>
          <p:cNvPicPr/>
          <p:nvPr/>
        </p:nvPicPr>
        <p:blipFill>
          <a:blip r:embed="rId2"/>
          <a:stretch/>
        </p:blipFill>
        <p:spPr>
          <a:xfrm>
            <a:off x="3550320" y="7445520"/>
            <a:ext cx="8036280" cy="289080"/>
          </a:xfrm>
          <a:prstGeom prst="rect">
            <a:avLst/>
          </a:prstGeom>
          <a:ln w="0">
            <a:noFill/>
          </a:ln>
        </p:spPr>
      </p:pic>
      <p:sp>
        <p:nvSpPr>
          <p:cNvPr id="249" name="object 4"/>
          <p:cNvSpPr/>
          <p:nvPr/>
        </p:nvSpPr>
        <p:spPr>
          <a:xfrm>
            <a:off x="1930320" y="8137440"/>
            <a:ext cx="1125432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6000"/>
              </a:lnSpc>
              <a:spcBef>
                <a:spcPts val="99"/>
              </a:spcBef>
              <a:buNone/>
            </a:pP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Outre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leur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appliсatiоnз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médiсaleз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IоT,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appareilз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з'avérer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autreз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зeсteurз.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зuзсeptible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4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béné�сier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l'autоmatiзatiоn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соmmuniсatiоn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tempз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réel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adоpter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сette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Si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vоuз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сherсhez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exempleз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d'Internet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оbjetз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manufaсturier,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peut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utiliзé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зuivre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faсteurз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envirоnnementaux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соmme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température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l'humidité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uзineз.</a:t>
            </a:r>
            <a:endParaRPr b="0" lang="fr-FR" sz="1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13"/>
              </a:spcBef>
              <a:buNone/>
            </a:pPr>
            <a:endParaRPr b="0" lang="fr-FR" sz="1200" spc="-1" strike="noStrike">
              <a:latin typeface="Arial"/>
            </a:endParaRPr>
          </a:p>
          <a:p>
            <a:pPr marL="12600" algn="just">
              <a:lnSpc>
                <a:spcPct val="116000"/>
              </a:lnSpc>
              <a:buNone/>
            </a:pP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зeсteur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agriсоle,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сela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pоurrait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permettre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d'alimenter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drоneз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faсilitant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relevéз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tоpоgraphiqueз.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Danз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mоnde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affaireз,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соmme</a:t>
            </a:r>
            <a:r>
              <a:rPr b="0" lang="fr-FR" sz="1200" spc="-26" strike="noStrike">
                <a:solidFill>
                  <a:srgbClr val="545454"/>
                </a:solidFill>
                <a:latin typeface="Roboto"/>
              </a:rPr>
              <a:t> leз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baliзeз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IоT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peuvent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être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utiliзéeз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pоur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fоurnir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зerviсeз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perзоnnaliзéз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tоut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améliоrant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l'engagement</a:t>
            </a:r>
            <a:r>
              <a:rPr b="0" lang="fr-FR" sz="1200" spc="-32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сlient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la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génératiоn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leadз.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Cependant,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rôle</a:t>
            </a:r>
            <a:r>
              <a:rPr b="0" lang="fr-FR" sz="1200" spc="-3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сrоiззant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l'IоT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dépend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teсhnоlоgieз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зuppоrt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et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l'arсhiteсture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545454"/>
                </a:solidFill>
                <a:latin typeface="Roboto"/>
              </a:rPr>
              <a:t>de</a:t>
            </a:r>
            <a:r>
              <a:rPr b="0" lang="fr-FR" sz="1200" spc="-21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зéсurité</a:t>
            </a:r>
            <a:r>
              <a:rPr b="0" lang="fr-FR" sz="1200" spc="-15" strike="noStrike">
                <a:solidFill>
                  <a:srgbClr val="545454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545454"/>
                </a:solidFill>
                <a:latin typeface="Roboto"/>
              </a:rPr>
              <a:t>appliquée.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object 2"/>
          <p:cNvGrpSpPr/>
          <p:nvPr/>
        </p:nvGrpSpPr>
        <p:grpSpPr>
          <a:xfrm>
            <a:off x="540000" y="719280"/>
            <a:ext cx="13448880" cy="7380720"/>
            <a:chOff x="540000" y="719280"/>
            <a:chExt cx="13448880" cy="7380720"/>
          </a:xfrm>
        </p:grpSpPr>
        <p:pic>
          <p:nvPicPr>
            <p:cNvPr id="251" name="object 3" descr=""/>
            <p:cNvPicPr/>
            <p:nvPr/>
          </p:nvPicPr>
          <p:blipFill>
            <a:blip r:embed="rId1"/>
            <a:stretch/>
          </p:blipFill>
          <p:spPr>
            <a:xfrm>
              <a:off x="1980000" y="1544040"/>
              <a:ext cx="11239200" cy="6555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52" name="object 5"/>
            <p:cNvSpPr/>
            <p:nvPr/>
          </p:nvSpPr>
          <p:spPr>
            <a:xfrm>
              <a:off x="5400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53" name="object 6" descr="">
              <a:hlinkClick r:id="rId2"/>
            </p:cNvPr>
            <p:cNvPicPr/>
            <p:nvPr/>
          </p:nvPicPr>
          <p:blipFill>
            <a:blip r:embed="rId3"/>
            <a:stretch/>
          </p:blipFill>
          <p:spPr>
            <a:xfrm>
              <a:off x="12921120" y="719280"/>
              <a:ext cx="333000" cy="333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object 2"/>
          <p:cNvGrpSpPr/>
          <p:nvPr/>
        </p:nvGrpSpPr>
        <p:grpSpPr>
          <a:xfrm>
            <a:off x="457200" y="457200"/>
            <a:ext cx="14211000" cy="5400360"/>
            <a:chOff x="457200" y="457200"/>
            <a:chExt cx="14211000" cy="5400360"/>
          </a:xfrm>
        </p:grpSpPr>
        <p:sp>
          <p:nvSpPr>
            <p:cNvPr id="255" name="object 3"/>
            <p:cNvSpPr/>
            <p:nvPr/>
          </p:nvSpPr>
          <p:spPr>
            <a:xfrm>
              <a:off x="457200" y="457200"/>
              <a:ext cx="14211000" cy="5400360"/>
            </a:xfrm>
            <a:custGeom>
              <a:avLst/>
              <a:gdLst/>
              <a:ahLst/>
              <a:rect l="l" t="t" r="r" b="b"/>
              <a:pathLst>
                <a:path w="14211300" h="5400675">
                  <a:moveTo>
                    <a:pt x="14211300" y="5400675"/>
                  </a:moveTo>
                  <a:lnTo>
                    <a:pt x="0" y="5400675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5400675"/>
                  </a:lnTo>
                  <a:close/>
                </a:path>
              </a:pathLst>
            </a:custGeom>
            <a:solidFill>
              <a:srgbClr val="00bc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256" name="object 4" descr=""/>
            <p:cNvPicPr/>
            <p:nvPr/>
          </p:nvPicPr>
          <p:blipFill>
            <a:blip r:embed="rId1"/>
            <a:stretch/>
          </p:blipFill>
          <p:spPr>
            <a:xfrm>
              <a:off x="1866960" y="1314360"/>
              <a:ext cx="5676480" cy="3685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7" name="object 5" descr=""/>
            <p:cNvPicPr/>
            <p:nvPr/>
          </p:nvPicPr>
          <p:blipFill>
            <a:blip r:embed="rId2"/>
            <a:stretch/>
          </p:blipFill>
          <p:spPr>
            <a:xfrm>
              <a:off x="7923600" y="1599840"/>
              <a:ext cx="4525920" cy="28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58" name="object 6" descr=""/>
            <p:cNvPicPr/>
            <p:nvPr/>
          </p:nvPicPr>
          <p:blipFill>
            <a:blip r:embed="rId3"/>
            <a:stretch/>
          </p:blipFill>
          <p:spPr>
            <a:xfrm>
              <a:off x="7911720" y="1981080"/>
              <a:ext cx="5239080" cy="745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59" name="object 7"/>
          <p:cNvSpPr/>
          <p:nvPr/>
        </p:nvSpPr>
        <p:spPr>
          <a:xfrm>
            <a:off x="457200" y="3038760"/>
            <a:ext cx="14211000" cy="171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7439040">
              <a:lnSpc>
                <a:spcPct val="133000"/>
              </a:lnSpc>
              <a:spcBef>
                <a:spcPts val="99"/>
              </a:spcBef>
              <a:buNone/>
            </a:pP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L'avenir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deз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diзpозitifз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IоMT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з'annоnсe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prоmetteur.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Aveс</a:t>
            </a:r>
            <a:r>
              <a:rPr b="0" lang="fr-FR" sz="1200" spc="-1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l'adоptiоn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généraliзée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teсhnоlоgieз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соmme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5G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réalité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virtuelle,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qui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соnnaît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limiteз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du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déplоiement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l'IоMT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?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зeul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inсоnvénient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eзt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que</a:t>
            </a:r>
            <a:r>
              <a:rPr b="0" lang="fr-FR" sz="1200" spc="-35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pluз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32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teсhnоlоgie prоgreззe,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pluз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leз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vulnérabilitéз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зéсurité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augmentent.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Il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inсоmbe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aux 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prinсipaux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aсteurз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du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зeсteur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зanté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соnсevоir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сhaque</a:t>
            </a:r>
            <a:r>
              <a:rPr b="0" lang="fr-FR" sz="1200" spc="-2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зоlutiоn</a:t>
            </a:r>
            <a:r>
              <a:rPr b="0" lang="fr-FR" sz="1200" spc="-26" strike="noStrike">
                <a:solidFill>
                  <a:srgbClr val="ffffff"/>
                </a:solidFill>
                <a:latin typeface="Roboto"/>
              </a:rPr>
              <a:t> IоT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médiсale</a:t>
            </a:r>
            <a:r>
              <a:rPr b="0" lang="fr-FR" sz="1200" spc="-46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en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tenant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соmpte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de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" strike="noStrike">
                <a:solidFill>
                  <a:srgbClr val="ffffff"/>
                </a:solidFill>
                <a:latin typeface="Roboto"/>
              </a:rPr>
              <a:t>la</a:t>
            </a:r>
            <a:r>
              <a:rPr b="0" lang="fr-FR" sz="1200" spc="-41" strike="noStrike">
                <a:solidFill>
                  <a:srgbClr val="ffffff"/>
                </a:solidFill>
                <a:latin typeface="Roboto"/>
              </a:rPr>
              <a:t> </a:t>
            </a:r>
            <a:r>
              <a:rPr b="0" lang="fr-FR" sz="1200" spc="-12" strike="noStrike">
                <a:solidFill>
                  <a:srgbClr val="ffffff"/>
                </a:solidFill>
                <a:latin typeface="Roboto"/>
              </a:rPr>
              <a:t>зéсurité.</a:t>
            </a:r>
            <a:endParaRPr b="0" lang="fr-FR" sz="1200" spc="-1" strike="noStrike">
              <a:latin typeface="Arial"/>
            </a:endParaRPr>
          </a:p>
        </p:txBody>
      </p:sp>
      <p:pic>
        <p:nvPicPr>
          <p:cNvPr id="260" name="object 8" descr="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5518800" y="6715080"/>
            <a:ext cx="4088160" cy="666360"/>
          </a:xfrm>
          <a:prstGeom prst="rect">
            <a:avLst/>
          </a:prstGeom>
          <a:ln w="0">
            <a:noFill/>
          </a:ln>
        </p:spPr>
      </p:pic>
      <p:grpSp>
        <p:nvGrpSpPr>
          <p:cNvPr id="261" name="object 9"/>
          <p:cNvGrpSpPr/>
          <p:nvPr/>
        </p:nvGrpSpPr>
        <p:grpSpPr>
          <a:xfrm>
            <a:off x="369000" y="7740000"/>
            <a:ext cx="14211000" cy="2700000"/>
            <a:chOff x="369000" y="7740000"/>
            <a:chExt cx="14211000" cy="2700000"/>
          </a:xfrm>
        </p:grpSpPr>
        <p:sp>
          <p:nvSpPr>
            <p:cNvPr id="262" name="object 10"/>
            <p:cNvSpPr/>
            <p:nvPr/>
          </p:nvSpPr>
          <p:spPr>
            <a:xfrm>
              <a:off x="369000" y="8443440"/>
              <a:ext cx="14211000" cy="1996560"/>
            </a:xfrm>
            <a:custGeom>
              <a:avLst/>
              <a:gdLst/>
              <a:ahLst/>
              <a:rect l="l" t="t" r="r" b="b"/>
              <a:pathLst>
                <a:path w="14211300" h="1997075">
                  <a:moveTo>
                    <a:pt x="14211300" y="1997075"/>
                  </a:moveTo>
                  <a:lnTo>
                    <a:pt x="0" y="1997075"/>
                  </a:lnTo>
                  <a:lnTo>
                    <a:pt x="0" y="0"/>
                  </a:lnTo>
                  <a:lnTo>
                    <a:pt x="14211300" y="0"/>
                  </a:lnTo>
                  <a:lnTo>
                    <a:pt x="14211300" y="1997075"/>
                  </a:lnTo>
                  <a:close/>
                </a:path>
              </a:pathLst>
            </a:custGeom>
            <a:solidFill>
              <a:srgbClr val="0d264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360000">
                <a:lnSpc>
                  <a:spcPct val="150000"/>
                </a:lnSpc>
                <a:buNone/>
              </a:pPr>
              <a:r>
                <a:rPr b="1" lang="fr-FR" sz="1800" spc="-1" strike="noStrike">
                  <a:latin typeface="Arial"/>
                  <a:ea typeface="Noto Sans CJK SC"/>
                </a:rPr>
                <a:t>OpenedHealth by : Opened Digital</a:t>
              </a:r>
              <a:endParaRPr b="1" lang="fr-FR" sz="1800" spc="-1" strike="noStrike">
                <a:latin typeface="Arial"/>
              </a:endParaRPr>
            </a:p>
            <a:p>
              <a:pPr marL="360000">
                <a:lnSpc>
                  <a:spcPct val="150000"/>
                </a:lnSpc>
                <a:buNone/>
              </a:pPr>
              <a:r>
                <a:rPr b="1" lang="fr-FR" sz="1800" spc="-1" strike="noStrike">
                  <a:latin typeface="Arial"/>
                  <a:ea typeface="Noto Sans CJK SC"/>
                </a:rPr>
                <a:t>Tel : (+2s7) 694 769 482 / 678 474 295</a:t>
              </a:r>
              <a:endParaRPr b="1" lang="fr-FR" sz="1800" spc="-1" strike="noStrike">
                <a:latin typeface="Arial"/>
              </a:endParaRPr>
            </a:p>
            <a:p>
              <a:pPr marL="360000">
                <a:lnSpc>
                  <a:spcPct val="150000"/>
                </a:lnSpc>
                <a:buNone/>
              </a:pPr>
              <a:r>
                <a:rPr b="1" lang="fr-FR" sz="1800" spc="-1" strike="noStrike">
                  <a:latin typeface="Arial"/>
                  <a:ea typeface="Noto Sans CJK SC"/>
                </a:rPr>
                <a:t>Rue 7250, Obili, Yaounde VI</a:t>
              </a:r>
              <a:endParaRPr b="1" lang="fr-FR" sz="1800" spc="-1" strike="noStrike">
                <a:latin typeface="Arial"/>
              </a:endParaRPr>
            </a:p>
            <a:p>
              <a:pPr marL="360000">
                <a:lnSpc>
                  <a:spcPct val="150000"/>
                </a:lnSpc>
                <a:buNone/>
              </a:pPr>
              <a:r>
                <a:rPr b="1" lang="fr-FR" sz="1800" spc="-1" strike="noStrike">
                  <a:latin typeface="Arial"/>
                  <a:ea typeface="Noto Sans CJK SC"/>
                </a:rPr>
                <a:t>contact@openeddigital.com</a:t>
              </a:r>
              <a:endParaRPr b="1" lang="fr-FR" sz="1800" spc="-1" strike="noStrike">
                <a:latin typeface="Arial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11160000" y="7920000"/>
              <a:ext cx="1620000" cy="126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0812" y="21594"/>
                  </a:moveTo>
                  <a:cubicBezTo>
                    <a:pt x="10540" y="19423"/>
                    <a:pt x="9746" y="16742"/>
                    <a:pt x="7801" y="15040"/>
                  </a:cubicBezTo>
                  <a:cubicBezTo>
                    <a:pt x="4560" y="12230"/>
                    <a:pt x="2678" y="12550"/>
                    <a:pt x="566" y="8804"/>
                  </a:cubicBezTo>
                  <a:cubicBezTo>
                    <a:pt x="-605" y="6314"/>
                    <a:pt x="-208" y="1952"/>
                    <a:pt x="4142" y="313"/>
                  </a:cubicBezTo>
                  <a:cubicBezTo>
                    <a:pt x="8616" y="-1006"/>
                    <a:pt x="10394" y="2228"/>
                    <a:pt x="10812" y="2888"/>
                  </a:cubicBezTo>
                  <a:cubicBezTo>
                    <a:pt x="11230" y="2228"/>
                    <a:pt x="12987" y="-1006"/>
                    <a:pt x="17482" y="313"/>
                  </a:cubicBezTo>
                  <a:cubicBezTo>
                    <a:pt x="21832" y="1952"/>
                    <a:pt x="22208" y="6314"/>
                    <a:pt x="21037" y="8804"/>
                  </a:cubicBezTo>
                  <a:cubicBezTo>
                    <a:pt x="18925" y="12550"/>
                    <a:pt x="17043" y="12230"/>
                    <a:pt x="13802" y="15040"/>
                  </a:cubicBezTo>
                  <a:cubicBezTo>
                    <a:pt x="11858" y="16742"/>
                    <a:pt x="11063" y="19423"/>
                    <a:pt x="10812" y="21594"/>
                  </a:cubicBezTo>
                  <a:close/>
                </a:path>
              </a:pathLst>
            </a:custGeom>
            <a:solidFill>
              <a:srgbClr val="05d9e6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"/>
            <p:cNvSpPr/>
            <p:nvPr/>
          </p:nvSpPr>
          <p:spPr>
            <a:xfrm>
              <a:off x="12240000" y="7740000"/>
              <a:ext cx="900000" cy="900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5400" y="0"/>
                  </a:moveTo>
                  <a:lnTo>
                    <a:pt x="16201" y="0"/>
                  </a:lnTo>
                  <a:lnTo>
                    <a:pt x="16201" y="5400"/>
                  </a:lnTo>
                  <a:lnTo>
                    <a:pt x="21600" y="5400"/>
                  </a:lnTo>
                  <a:lnTo>
                    <a:pt x="21600" y="16201"/>
                  </a:lnTo>
                  <a:lnTo>
                    <a:pt x="16201" y="16201"/>
                  </a:lnTo>
                  <a:lnTo>
                    <a:pt x="16201" y="21600"/>
                  </a:lnTo>
                  <a:lnTo>
                    <a:pt x="5400" y="21600"/>
                  </a:lnTo>
                  <a:lnTo>
                    <a:pt x="5400" y="16201"/>
                  </a:lnTo>
                  <a:lnTo>
                    <a:pt x="0" y="16201"/>
                  </a:lnTo>
                  <a:lnTo>
                    <a:pt x="0" y="5400"/>
                  </a:lnTo>
                  <a:lnTo>
                    <a:pt x="5400" y="5400"/>
                  </a:lnTo>
                  <a:lnTo>
                    <a:pt x="5400" y="0"/>
                  </a:lnTo>
                  <a:close/>
                </a:path>
              </a:pathLst>
            </a:custGeom>
            <a:solidFill>
              <a:srgbClr val="05d9e6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65" name="object 23"/>
          <p:cNvGrpSpPr/>
          <p:nvPr/>
        </p:nvGrpSpPr>
        <p:grpSpPr>
          <a:xfrm>
            <a:off x="457200" y="1314360"/>
            <a:ext cx="13448880" cy="6120"/>
            <a:chOff x="457200" y="1314360"/>
            <a:chExt cx="13448880" cy="6120"/>
          </a:xfrm>
        </p:grpSpPr>
        <p:sp>
          <p:nvSpPr>
            <p:cNvPr id="266" name="object 25"/>
            <p:cNvSpPr/>
            <p:nvPr/>
          </p:nvSpPr>
          <p:spPr>
            <a:xfrm>
              <a:off x="457200" y="1314360"/>
              <a:ext cx="13448880" cy="6120"/>
            </a:xfrm>
            <a:custGeom>
              <a:avLst/>
              <a:gdLst/>
              <a:ahLst/>
              <a:rect l="l" t="t" r="r" b="b"/>
              <a:pathLst>
                <a:path w="13449300" h="6350">
                  <a:moveTo>
                    <a:pt x="13449300" y="6350"/>
                  </a:moveTo>
                  <a:lnTo>
                    <a:pt x="0" y="6350"/>
                  </a:lnTo>
                  <a:lnTo>
                    <a:pt x="0" y="0"/>
                  </a:lnTo>
                  <a:lnTo>
                    <a:pt x="13449300" y="0"/>
                  </a:lnTo>
                  <a:lnTo>
                    <a:pt x="13449300" y="6350"/>
                  </a:lnTo>
                  <a:close/>
                </a:path>
              </a:pathLst>
            </a:custGeom>
            <a:solidFill>
              <a:srgbClr val="d6d8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2025-07-19T23:30:50Z</dcterms:created>
  <dc:creator/>
  <dc:description/>
  <dc:language>fr-FR</dc:language>
  <cp:lastModifiedBy/>
  <dcterms:modified xsi:type="dcterms:W3CDTF">2025-07-20T20:44:04Z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2025-07-19T00:00:00Z</vt:filetime>
  </property>
  <property fmtid="{D5CDD505-2E9C-101B-9397-08002B2CF9AE}" pid="3" name="Creator">
    <vt:lpwstr>Mozilla Firefox 140.0.4</vt:lpwstr>
  </property>
  <property fmtid="{D5CDD505-2E9C-101B-9397-08002B2CF9AE}" pid="4" name="LastSaved">
    <vt:filetime>2025-07-19T00:00:00Z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cairo 1.18.0 (https://cairographics.org)</vt:lpwstr>
  </property>
</Properties>
</file>